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3" r:id="rId18"/>
    <p:sldId id="278" r:id="rId19"/>
    <p:sldId id="277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E59F"/>
    <a:srgbClr val="E3D4E8"/>
    <a:srgbClr val="E9F484"/>
    <a:srgbClr val="F5EEDF"/>
    <a:srgbClr val="EDE1C9"/>
    <a:srgbClr val="E7D7B7"/>
    <a:srgbClr val="D5CA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97" autoAdjust="0"/>
    <p:restoredTop sz="96645" autoAdjust="0"/>
  </p:normalViewPr>
  <p:slideViewPr>
    <p:cSldViewPr snapToGrid="0">
      <p:cViewPr varScale="1">
        <p:scale>
          <a:sx n="107" d="100"/>
          <a:sy n="107" d="100"/>
        </p:scale>
        <p:origin x="26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3E7CB08-B19C-4C97-A58E-0244DC130B9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5D2DF3-5735-4025-8E72-6171566DD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39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CB08-B19C-4C97-A58E-0244DC130B9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F55D2DF3-5735-4025-8E72-6171566DD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26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3E7CB08-B19C-4C97-A58E-0244DC130B9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5D2DF3-5735-4025-8E72-6171566DD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3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CB08-B19C-4C97-A58E-0244DC130B9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2DF3-5735-4025-8E72-6171566DD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67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CB08-B19C-4C97-A58E-0244DC130B9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2DF3-5735-4025-8E72-6171566DD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97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CB08-B19C-4C97-A58E-0244DC130B9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2DF3-5735-4025-8E72-6171566DD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56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CB08-B19C-4C97-A58E-0244DC130B9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2DF3-5735-4025-8E72-6171566DD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3E7CB08-B19C-4C97-A58E-0244DC130B9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5D2DF3-5735-4025-8E72-6171566DD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0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CB08-B19C-4C97-A58E-0244DC130B9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2DF3-5735-4025-8E72-6171566DD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2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CB08-B19C-4C97-A58E-0244DC130B9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2DF3-5735-4025-8E72-6171566DD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0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3E7CB08-B19C-4C97-A58E-0244DC130B9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5D2DF3-5735-4025-8E72-6171566DD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0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3E7CB08-B19C-4C97-A58E-0244DC130B9B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55D2DF3-5735-4025-8E72-6171566DD1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4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78C27863-8943-412C-309C-EEEF4EBECC83}"/>
              </a:ext>
            </a:extLst>
          </p:cNvPr>
          <p:cNvSpPr/>
          <p:nvPr/>
        </p:nvSpPr>
        <p:spPr>
          <a:xfrm>
            <a:off x="0" y="939103"/>
            <a:ext cx="10572223" cy="4468603"/>
          </a:xfrm>
          <a:custGeom>
            <a:avLst/>
            <a:gdLst>
              <a:gd name="csX0" fmla="*/ 0 w 8324850"/>
              <a:gd name="csY0" fmla="*/ 4282379 h 4282379"/>
              <a:gd name="csX1" fmla="*/ 7010400 w 8324850"/>
              <a:gd name="csY1" fmla="*/ 0 h 4282379"/>
              <a:gd name="csX2" fmla="*/ 8324850 w 8324850"/>
              <a:gd name="csY2" fmla="*/ 4282379 h 4282379"/>
              <a:gd name="csX3" fmla="*/ 0 w 8324850"/>
              <a:gd name="csY3" fmla="*/ 4282379 h 42823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324850" h="4282379">
                <a:moveTo>
                  <a:pt x="0" y="4282379"/>
                </a:moveTo>
                <a:lnTo>
                  <a:pt x="7010400" y="0"/>
                </a:lnTo>
                <a:lnTo>
                  <a:pt x="8324850" y="4282379"/>
                </a:lnTo>
                <a:lnTo>
                  <a:pt x="0" y="428237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DDF899-3EE0-4CEC-4DE3-C7CBBD55DBED}"/>
              </a:ext>
            </a:extLst>
          </p:cNvPr>
          <p:cNvSpPr txBox="1"/>
          <p:nvPr/>
        </p:nvSpPr>
        <p:spPr>
          <a:xfrm>
            <a:off x="2837923" y="1015303"/>
            <a:ext cx="6287554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3900" i="1">
                <a:solidFill>
                  <a:schemeClr val="tx1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Al</a:t>
            </a:r>
            <a:r>
              <a:rPr lang="en-US" sz="23900" i="1"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a</a:t>
            </a:r>
            <a:r>
              <a:rPr lang="en-US" sz="23900" i="1">
                <a:solidFill>
                  <a:srgbClr val="C00000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m</a:t>
            </a:r>
            <a:r>
              <a:rPr lang="en-US" sz="23900" i="1">
                <a:solidFill>
                  <a:schemeClr val="tx1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ut</a:t>
            </a:r>
          </a:p>
        </p:txBody>
      </p:sp>
    </p:spTree>
    <p:extLst>
      <p:ext uri="{BB962C8B-B14F-4D97-AF65-F5344CB8AC3E}">
        <p14:creationId xmlns:p14="http://schemas.microsoft.com/office/powerpoint/2010/main" val="619230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19A2ED-A46B-9A50-C63B-769859BFB4A0}"/>
              </a:ext>
            </a:extLst>
          </p:cNvPr>
          <p:cNvSpPr txBox="1"/>
          <p:nvPr/>
        </p:nvSpPr>
        <p:spPr>
          <a:xfrm>
            <a:off x="1704975" y="922747"/>
            <a:ext cx="9353549" cy="4800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>
                <a:solidFill>
                  <a:srgbClr val="50164A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Hi!</a:t>
            </a:r>
            <a:endParaRPr lang="en-US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>
                <a:solidFill>
                  <a:srgbClr val="50164A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Over the past 10+ years, I have gradually collected more than 540 plant species inventories in my floristic database, </a:t>
            </a:r>
            <a:r>
              <a:rPr lang="en-US" sz="3200" kern="100">
                <a:solidFill>
                  <a:schemeClr val="accent4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Alamut</a:t>
            </a:r>
            <a:r>
              <a:rPr lang="en-US" sz="3200" kern="100">
                <a:solidFill>
                  <a:srgbClr val="50164A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>
                <a:solidFill>
                  <a:srgbClr val="50164A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These inventories consist of plant species occurrence data extracted from published papers and research reports from the past three decades in Iran and neighboring countries.</a:t>
            </a:r>
            <a:endParaRPr lang="en-US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951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0125DD-B32C-C5AE-C340-BE7DB00491C7}"/>
              </a:ext>
            </a:extLst>
          </p:cNvPr>
          <p:cNvSpPr txBox="1"/>
          <p:nvPr/>
        </p:nvSpPr>
        <p:spPr>
          <a:xfrm>
            <a:off x="809625" y="1162050"/>
            <a:ext cx="11058525" cy="325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US" sz="3200" kern="1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How is this done, and how is it useful for diversity management and conservation? I am going to show you my simple approach in this video.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endParaRPr lang="en-US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First, I developed a </a:t>
            </a:r>
            <a:r>
              <a:rPr lang="en-US" sz="3200">
                <a:solidFill>
                  <a:schemeClr val="accent4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 structure </a:t>
            </a:r>
            <a:r>
              <a:rPr lang="en-US" sz="32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and built a floristic </a:t>
            </a:r>
            <a:r>
              <a:rPr lang="en-US" sz="3200">
                <a:solidFill>
                  <a:schemeClr val="accent4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database</a:t>
            </a:r>
            <a:r>
              <a:rPr lang="en-US" sz="32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around it, refining both over time. </a:t>
            </a:r>
            <a:endParaRPr lang="en-US" sz="3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73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1D3580-6450-C4D8-BBB3-87DFE37854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07"/>
          <a:stretch>
            <a:fillRect/>
          </a:stretch>
        </p:blipFill>
        <p:spPr>
          <a:xfrm>
            <a:off x="539475" y="570450"/>
            <a:ext cx="11347196" cy="63827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0F8181-9462-6340-9AC5-1BB27C299875}"/>
              </a:ext>
            </a:extLst>
          </p:cNvPr>
          <p:cNvSpPr txBox="1"/>
          <p:nvPr/>
        </p:nvSpPr>
        <p:spPr>
          <a:xfrm>
            <a:off x="8982635" y="6088559"/>
            <a:ext cx="3209365" cy="769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en-US" sz="4400">
                <a:solidFill>
                  <a:srgbClr val="7030A0"/>
                </a:solidFill>
              </a:rPr>
              <a:t>SQLServer</a:t>
            </a:r>
            <a:endParaRPr lang="en-US" sz="320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533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914887-1BB6-5609-B230-0A75124FA160}"/>
              </a:ext>
            </a:extLst>
          </p:cNvPr>
          <p:cNvSpPr txBox="1"/>
          <p:nvPr/>
        </p:nvSpPr>
        <p:spPr>
          <a:xfrm>
            <a:off x="657224" y="996131"/>
            <a:ext cx="11172825" cy="4934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Then, I extracted </a:t>
            </a:r>
            <a:r>
              <a:rPr lang="en-US" sz="3200" kern="100">
                <a:solidFill>
                  <a:schemeClr val="accent4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raw lists </a:t>
            </a:r>
            <a:r>
              <a:rPr lang="en-US" sz="3200" kern="1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of plant scientific names from the literature and prepared </a:t>
            </a:r>
            <a:r>
              <a:rPr lang="en-US" sz="3200" kern="100">
                <a:solidFill>
                  <a:schemeClr val="accent4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metadata</a:t>
            </a:r>
            <a:r>
              <a:rPr lang="en-US" sz="3200" kern="1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for the geographic regions to which each list belongs.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endParaRPr lang="en-US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Next, I corrected the lists for typos and other errors.</a:t>
            </a: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do this, I developed a computer application named </a:t>
            </a:r>
            <a:r>
              <a:rPr lang="en-US" sz="3200" kern="100">
                <a:solidFill>
                  <a:schemeClr val="accent4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CheckName</a:t>
            </a:r>
            <a:r>
              <a:rPr lang="en-US" sz="3200" kern="1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For literature not accessible as text, I reproduced the lists using another application called </a:t>
            </a:r>
            <a:r>
              <a:rPr lang="en-US" sz="3200" kern="100">
                <a:solidFill>
                  <a:schemeClr val="accent4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ListMaker</a:t>
            </a:r>
            <a:r>
              <a:rPr lang="en-US" sz="3200" kern="1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n-US" sz="20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83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CBD3D3-6769-2123-A3F3-ABDE849571B5}"/>
              </a:ext>
            </a:extLst>
          </p:cNvPr>
          <p:cNvSpPr txBox="1"/>
          <p:nvPr/>
        </p:nvSpPr>
        <p:spPr>
          <a:xfrm>
            <a:off x="1133474" y="1404076"/>
            <a:ext cx="103346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kern="1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</a:t>
            </a:r>
            <a:r>
              <a:rPr lang="en-US" sz="3200" kern="100">
                <a:solidFill>
                  <a:schemeClr val="accent4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taxonomic backbone</a:t>
            </a:r>
            <a:r>
              <a:rPr lang="en-US" sz="3200" kern="1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—comprising a complete list of world plant </a:t>
            </a:r>
            <a:r>
              <a:rPr lang="en-US" sz="3200" kern="100">
                <a:latin typeface="Aptos" panose="020B0004020202020204" pitchFamily="34" charset="0"/>
                <a:cs typeface="Arial" panose="020B0604020202020204" pitchFamily="34" charset="0"/>
              </a:rPr>
              <a:t>species</a:t>
            </a:r>
            <a:r>
              <a:rPr lang="en-US" sz="3200" kern="1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from the World Flora Online (</a:t>
            </a:r>
            <a:r>
              <a:rPr lang="en-US" sz="3200" kern="100">
                <a:solidFill>
                  <a:schemeClr val="accent4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WFO</a:t>
            </a:r>
            <a:r>
              <a:rPr lang="en-US" sz="3200" kern="10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)—is used in my database to accomplish these tasks.</a:t>
            </a:r>
            <a:endParaRPr lang="en-US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19597-FC47-E68B-362D-0CBA332AF6BA}"/>
              </a:ext>
            </a:extLst>
          </p:cNvPr>
          <p:cNvSpPr txBox="1"/>
          <p:nvPr/>
        </p:nvSpPr>
        <p:spPr>
          <a:xfrm>
            <a:off x="1133474" y="4147276"/>
            <a:ext cx="103346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i="1" kern="100">
                <a:latin typeface="Aptos" panose="020B0004020202020204" pitchFamily="34" charset="0"/>
                <a:cs typeface="Arial" panose="020B0604020202020204" pitchFamily="34" charset="0"/>
              </a:rPr>
              <a:t>In this video</a:t>
            </a:r>
            <a:r>
              <a:rPr lang="en-US" sz="3200" kern="100">
                <a:latin typeface="Aptos" panose="020B0004020202020204" pitchFamily="34" charset="0"/>
                <a:cs typeface="Arial" panose="020B0604020202020204" pitchFamily="34" charset="0"/>
              </a:rPr>
              <a:t>, I am going to show you </a:t>
            </a:r>
            <a:r>
              <a:rPr lang="en-US" sz="3200" kern="10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how to </a:t>
            </a:r>
            <a:r>
              <a:rPr lang="en-US" sz="3200" kern="100">
                <a:latin typeface="Aptos" panose="020B0004020202020204" pitchFamily="34" charset="0"/>
                <a:cs typeface="Arial" panose="020B0604020202020204" pitchFamily="34" charset="0"/>
              </a:rPr>
              <a:t>create floristic datasets using </a:t>
            </a:r>
            <a:r>
              <a:rPr lang="en-US" sz="3200" kern="10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Alamut</a:t>
            </a:r>
            <a:r>
              <a:rPr lang="en-US" sz="3200" kern="100">
                <a:latin typeface="Aptos" panose="020B0004020202020204" pitchFamily="34" charset="0"/>
                <a:cs typeface="Arial" panose="020B0604020202020204" pitchFamily="34" charset="0"/>
              </a:rPr>
              <a:t> database and its applications, </a:t>
            </a:r>
            <a:r>
              <a:rPr lang="en-US" sz="3200" kern="10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ListMaker</a:t>
            </a:r>
            <a:r>
              <a:rPr lang="en-US" sz="3200" kern="100">
                <a:latin typeface="Aptos" panose="020B0004020202020204" pitchFamily="34" charset="0"/>
                <a:cs typeface="Arial" panose="020B0604020202020204" pitchFamily="34" charset="0"/>
              </a:rPr>
              <a:t> and </a:t>
            </a:r>
            <a:r>
              <a:rPr lang="en-US" sz="3200" kern="10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CheckName</a:t>
            </a:r>
            <a:r>
              <a:rPr lang="en-US" sz="3200" kern="100">
                <a:latin typeface="Aptos" panose="020B00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6461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7E4D0B-6435-018C-99D6-02AB3E5A0FD8}"/>
              </a:ext>
            </a:extLst>
          </p:cNvPr>
          <p:cNvSpPr txBox="1"/>
          <p:nvPr/>
        </p:nvSpPr>
        <p:spPr>
          <a:xfrm>
            <a:off x="962025" y="723901"/>
            <a:ext cx="1075372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Aptos" panose="020B0004020202020204" pitchFamily="34" charset="0"/>
              </a:rPr>
              <a:t>I hope this web application will also help </a:t>
            </a:r>
            <a:r>
              <a:rPr lang="en-US" sz="320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curators</a:t>
            </a:r>
            <a:r>
              <a:rPr lang="en-US" sz="3200">
                <a:latin typeface="Aptos" panose="020B0004020202020204" pitchFamily="34" charset="0"/>
              </a:rPr>
              <a:t> create their own datasets—either by using </a:t>
            </a:r>
            <a:r>
              <a:rPr lang="en-US" sz="320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ListMaker</a:t>
            </a:r>
            <a:r>
              <a:rPr lang="en-US" sz="3200">
                <a:latin typeface="Aptos" panose="020B0004020202020204" pitchFamily="34" charset="0"/>
              </a:rPr>
              <a:t> (if they have not yet entered any data into a computer) or by using </a:t>
            </a:r>
            <a:r>
              <a:rPr lang="en-US" sz="320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CheckName</a:t>
            </a:r>
            <a:r>
              <a:rPr lang="en-US" sz="3200">
                <a:latin typeface="Aptos" panose="020B0004020202020204" pitchFamily="34" charset="0"/>
              </a:rPr>
              <a:t> (if they already have a list and wish to correct it and encode it with standard </a:t>
            </a:r>
            <a:r>
              <a:rPr lang="en-US" sz="320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WFO IDs</a:t>
            </a:r>
            <a:r>
              <a:rPr lang="en-US" sz="3200">
                <a:latin typeface="Aptos" panose="020B0004020202020204" pitchFamily="34" charset="0"/>
              </a:rPr>
              <a:t>).</a:t>
            </a:r>
          </a:p>
          <a:p>
            <a:endParaRPr lang="en-US" sz="3200">
              <a:latin typeface="Aptos" panose="020B0004020202020204" pitchFamily="34" charset="0"/>
            </a:endParaRPr>
          </a:p>
          <a:p>
            <a:r>
              <a:rPr lang="en-US" sz="3200">
                <a:latin typeface="Aptos" panose="020B0004020202020204" pitchFamily="34" charset="0"/>
              </a:rPr>
              <a:t>If you are interested to know more, my </a:t>
            </a:r>
            <a:r>
              <a:rPr lang="en-US" sz="320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next step </a:t>
            </a:r>
            <a:r>
              <a:rPr lang="en-US" sz="3200">
                <a:latin typeface="Aptos" panose="020B0004020202020204" pitchFamily="34" charset="0"/>
              </a:rPr>
              <a:t>is to provide analyses of the floristic datasets, including </a:t>
            </a:r>
            <a:r>
              <a:rPr lang="en-US" sz="2800" i="1">
                <a:solidFill>
                  <a:srgbClr val="C00000"/>
                </a:solidFill>
                <a:latin typeface="Aptos" panose="020B0004020202020204" pitchFamily="34" charset="0"/>
              </a:rPr>
              <a:t>Shannon’s Diversity Index</a:t>
            </a:r>
            <a:r>
              <a:rPr lang="en-US" sz="3200">
                <a:latin typeface="Aptos" panose="020B0004020202020204" pitchFamily="34" charset="0"/>
              </a:rPr>
              <a:t>, the </a:t>
            </a:r>
            <a:r>
              <a:rPr lang="en-US" sz="2800" i="1">
                <a:solidFill>
                  <a:srgbClr val="C00000"/>
                </a:solidFill>
                <a:latin typeface="Aptos" panose="020B0004020202020204" pitchFamily="34" charset="0"/>
              </a:rPr>
              <a:t>Floristic Value </a:t>
            </a:r>
            <a:r>
              <a:rPr lang="en-US" sz="3200">
                <a:latin typeface="Aptos" panose="020B0004020202020204" pitchFamily="34" charset="0"/>
              </a:rPr>
              <a:t>for each region, simple </a:t>
            </a:r>
            <a:r>
              <a:rPr lang="en-US" sz="2800" i="1">
                <a:solidFill>
                  <a:srgbClr val="C00000"/>
                </a:solidFill>
                <a:latin typeface="Aptos" panose="020B0004020202020204" pitchFamily="34" charset="0"/>
              </a:rPr>
              <a:t>floristic analyses </a:t>
            </a:r>
            <a:r>
              <a:rPr lang="en-US" sz="3200">
                <a:latin typeface="Aptos" panose="020B0004020202020204" pitchFamily="34" charset="0"/>
              </a:rPr>
              <a:t>describing the percentage share of genera and families, as well as the top 10 dominant categories, and </a:t>
            </a:r>
            <a:r>
              <a:rPr lang="en-US" sz="2800" i="1">
                <a:solidFill>
                  <a:srgbClr val="C00000"/>
                </a:solidFill>
                <a:latin typeface="Aptos" panose="020B0004020202020204" pitchFamily="34" charset="0"/>
              </a:rPr>
              <a:t>Multivariate analyses </a:t>
            </a:r>
            <a:r>
              <a:rPr lang="en-US" sz="3200">
                <a:latin typeface="Aptos" panose="020B0004020202020204" pitchFamily="34" charset="0"/>
              </a:rPr>
              <a:t>among others.</a:t>
            </a:r>
          </a:p>
        </p:txBody>
      </p:sp>
    </p:spTree>
    <p:extLst>
      <p:ext uri="{BB962C8B-B14F-4D97-AF65-F5344CB8AC3E}">
        <p14:creationId xmlns:p14="http://schemas.microsoft.com/office/powerpoint/2010/main" val="4250565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795AB1A0-23B3-5299-85B3-689FCE7A6FA1}"/>
              </a:ext>
            </a:extLst>
          </p:cNvPr>
          <p:cNvGrpSpPr/>
          <p:nvPr/>
        </p:nvGrpSpPr>
        <p:grpSpPr>
          <a:xfrm>
            <a:off x="128153" y="2913064"/>
            <a:ext cx="11956267" cy="1710484"/>
            <a:chOff x="137120" y="1398028"/>
            <a:chExt cx="11956267" cy="1710484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E5435A8-AC36-45D2-E43A-19E2BF2CD0E4}"/>
                </a:ext>
              </a:extLst>
            </p:cNvPr>
            <p:cNvSpPr/>
            <p:nvPr/>
          </p:nvSpPr>
          <p:spPr>
            <a:xfrm>
              <a:off x="137120" y="1398028"/>
              <a:ext cx="3332220" cy="1506537"/>
            </a:xfrm>
            <a:prstGeom prst="roundRect">
              <a:avLst>
                <a:gd name="adj" fmla="val 8295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Page &lt; /&gt;</a:t>
              </a:r>
            </a:p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(HTML + C# + Blazor + MudBlazor)</a:t>
              </a:r>
            </a:p>
            <a:p>
              <a:pPr algn="ctr"/>
              <a:endParaRPr lang="en-US" sz="1600">
                <a:solidFill>
                  <a:schemeClr val="accent5">
                    <a:lumMod val="75000"/>
                  </a:schemeClr>
                </a:solidFill>
              </a:endParaRPr>
            </a:p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Code { }</a:t>
              </a:r>
            </a:p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(.Net10 + C# + JavaScript: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E62FE06-EE53-0E60-6C80-40A8C75AC951}"/>
                </a:ext>
              </a:extLst>
            </p:cNvPr>
            <p:cNvSpPr/>
            <p:nvPr/>
          </p:nvSpPr>
          <p:spPr>
            <a:xfrm>
              <a:off x="3687144" y="1398029"/>
              <a:ext cx="1841427" cy="1506536"/>
            </a:xfrm>
            <a:prstGeom prst="roundRect">
              <a:avLst>
                <a:gd name="adj" fmla="val 8295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Frontend Service</a:t>
              </a:r>
            </a:p>
            <a:p>
              <a:endParaRPr lang="en-US" sz="1600">
                <a:solidFill>
                  <a:schemeClr val="accent5">
                    <a:lumMod val="75000"/>
                  </a:schemeClr>
                </a:solidFill>
              </a:endParaRPr>
            </a:p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HttpClient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00012D1-29CD-1408-64AD-164B887A87D3}"/>
                </a:ext>
              </a:extLst>
            </p:cNvPr>
            <p:cNvSpPr/>
            <p:nvPr/>
          </p:nvSpPr>
          <p:spPr>
            <a:xfrm>
              <a:off x="5746375" y="1398029"/>
              <a:ext cx="1174376" cy="1506536"/>
            </a:xfrm>
            <a:prstGeom prst="roundRect">
              <a:avLst>
                <a:gd name="adj" fmla="val 8295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API</a:t>
              </a:r>
            </a:p>
            <a:p>
              <a:endParaRPr lang="en-US" sz="1600">
                <a:solidFill>
                  <a:schemeClr val="accent5">
                    <a:lumMod val="75000"/>
                  </a:schemeClr>
                </a:solidFill>
              </a:endParaRPr>
            </a:p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Controller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1E5026C-D96D-5F61-FE20-5684CA11C9F7}"/>
                </a:ext>
              </a:extLst>
            </p:cNvPr>
            <p:cNvSpPr/>
            <p:nvPr/>
          </p:nvSpPr>
          <p:spPr>
            <a:xfrm>
              <a:off x="7138555" y="1398029"/>
              <a:ext cx="1028290" cy="1506536"/>
            </a:xfrm>
            <a:prstGeom prst="roundRect">
              <a:avLst>
                <a:gd name="adj" fmla="val 8295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Interface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FC53F1C-7A2B-D308-980F-5B7A8EFE2B5D}"/>
                </a:ext>
              </a:extLst>
            </p:cNvPr>
            <p:cNvSpPr/>
            <p:nvPr/>
          </p:nvSpPr>
          <p:spPr>
            <a:xfrm>
              <a:off x="8384649" y="1398029"/>
              <a:ext cx="1662132" cy="1506536"/>
            </a:xfrm>
            <a:prstGeom prst="roundRect">
              <a:avLst>
                <a:gd name="adj" fmla="val 8295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Backend Service</a:t>
              </a:r>
            </a:p>
            <a:p>
              <a:endParaRPr lang="en-US" sz="1600">
                <a:solidFill>
                  <a:schemeClr val="accent5">
                    <a:lumMod val="75000"/>
                  </a:schemeClr>
                </a:solidFill>
              </a:endParaRPr>
            </a:p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SqlClient</a:t>
              </a:r>
            </a:p>
            <a:p>
              <a:endParaRPr lang="en-US" sz="16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A375150-DEB1-4C5C-B1E9-A5D0E7492F15}"/>
                </a:ext>
              </a:extLst>
            </p:cNvPr>
            <p:cNvSpPr/>
            <p:nvPr/>
          </p:nvSpPr>
          <p:spPr>
            <a:xfrm>
              <a:off x="10264585" y="1398029"/>
              <a:ext cx="1828802" cy="1506536"/>
            </a:xfrm>
            <a:prstGeom prst="roundRect">
              <a:avLst>
                <a:gd name="adj" fmla="val 8295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SqlServer</a:t>
              </a:r>
            </a:p>
            <a:p>
              <a:endParaRPr lang="en-US" sz="1600">
                <a:solidFill>
                  <a:schemeClr val="accent5">
                    <a:lumMod val="75000"/>
                  </a:schemeClr>
                </a:solidFill>
              </a:endParaRPr>
            </a:p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Tables</a:t>
              </a:r>
            </a:p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Scemas</a:t>
              </a:r>
            </a:p>
            <a:p>
              <a:r>
                <a:rPr lang="en-US" sz="1600">
                  <a:solidFill>
                    <a:schemeClr val="accent5">
                      <a:lumMod val="75000"/>
                    </a:schemeClr>
                  </a:solidFill>
                </a:rPr>
                <a:t>Stored Procedured</a:t>
              </a:r>
            </a:p>
            <a:p>
              <a:endParaRPr lang="en-US" sz="16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3" name="Arrow: Left-Right 12">
              <a:extLst>
                <a:ext uri="{FF2B5EF4-FFF2-40B4-BE49-F238E27FC236}">
                  <a16:creationId xmlns:a16="http://schemas.microsoft.com/office/drawing/2014/main" id="{5F42CA4B-84B7-D0C3-4FD7-7E42045B3FD5}"/>
                </a:ext>
              </a:extLst>
            </p:cNvPr>
            <p:cNvSpPr/>
            <p:nvPr/>
          </p:nvSpPr>
          <p:spPr>
            <a:xfrm>
              <a:off x="3153081" y="2700618"/>
              <a:ext cx="850323" cy="407894"/>
            </a:xfrm>
            <a:prstGeom prst="leftRightArrow">
              <a:avLst/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Left-Right 14">
              <a:extLst>
                <a:ext uri="{FF2B5EF4-FFF2-40B4-BE49-F238E27FC236}">
                  <a16:creationId xmlns:a16="http://schemas.microsoft.com/office/drawing/2014/main" id="{7E5C4C6B-90A8-E909-D582-42D939A7BE2B}"/>
                </a:ext>
              </a:extLst>
            </p:cNvPr>
            <p:cNvSpPr/>
            <p:nvPr/>
          </p:nvSpPr>
          <p:spPr>
            <a:xfrm>
              <a:off x="5200851" y="2700617"/>
              <a:ext cx="850323" cy="407894"/>
            </a:xfrm>
            <a:prstGeom prst="leftRightArrow">
              <a:avLst/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row: Left-Right 16">
              <a:extLst>
                <a:ext uri="{FF2B5EF4-FFF2-40B4-BE49-F238E27FC236}">
                  <a16:creationId xmlns:a16="http://schemas.microsoft.com/office/drawing/2014/main" id="{CF73DCAC-6ABF-F3D5-341C-E58B1B5880EB}"/>
                </a:ext>
              </a:extLst>
            </p:cNvPr>
            <p:cNvSpPr/>
            <p:nvPr/>
          </p:nvSpPr>
          <p:spPr>
            <a:xfrm>
              <a:off x="6594358" y="2700617"/>
              <a:ext cx="850323" cy="407894"/>
            </a:xfrm>
            <a:prstGeom prst="leftRightArrow">
              <a:avLst/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row: Left-Right 18">
              <a:extLst>
                <a:ext uri="{FF2B5EF4-FFF2-40B4-BE49-F238E27FC236}">
                  <a16:creationId xmlns:a16="http://schemas.microsoft.com/office/drawing/2014/main" id="{CA03A2A5-7B9E-98CF-E5B0-CB54589E71F5}"/>
                </a:ext>
              </a:extLst>
            </p:cNvPr>
            <p:cNvSpPr/>
            <p:nvPr/>
          </p:nvSpPr>
          <p:spPr>
            <a:xfrm>
              <a:off x="7850586" y="2700617"/>
              <a:ext cx="850323" cy="407894"/>
            </a:xfrm>
            <a:prstGeom prst="leftRightArrow">
              <a:avLst/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Arrow: Left-Right 22">
              <a:extLst>
                <a:ext uri="{FF2B5EF4-FFF2-40B4-BE49-F238E27FC236}">
                  <a16:creationId xmlns:a16="http://schemas.microsoft.com/office/drawing/2014/main" id="{403B24A5-7A6D-2049-0596-8567A6157657}"/>
                </a:ext>
              </a:extLst>
            </p:cNvPr>
            <p:cNvSpPr/>
            <p:nvPr/>
          </p:nvSpPr>
          <p:spPr>
            <a:xfrm>
              <a:off x="9730522" y="2700617"/>
              <a:ext cx="850323" cy="407894"/>
            </a:xfrm>
            <a:prstGeom prst="leftRightArrow">
              <a:avLst/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F77C1AB-41CD-2251-6885-D846EFAEC6E8}"/>
              </a:ext>
            </a:extLst>
          </p:cNvPr>
          <p:cNvSpPr txBox="1"/>
          <p:nvPr/>
        </p:nvSpPr>
        <p:spPr>
          <a:xfrm>
            <a:off x="484094" y="701036"/>
            <a:ext cx="112686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i="1"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Ala</a:t>
            </a:r>
            <a:r>
              <a:rPr lang="en-US" sz="6000" i="1">
                <a:solidFill>
                  <a:srgbClr val="C00000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m</a:t>
            </a:r>
            <a:r>
              <a:rPr lang="en-US" sz="6000" i="1"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ut</a:t>
            </a:r>
            <a:r>
              <a:rPr lang="en-US" sz="360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sz="2400">
                <a:solidFill>
                  <a:schemeClr val="accent5">
                    <a:lumMod val="75000"/>
                  </a:schemeClr>
                </a:solidFill>
              </a:rPr>
              <a:t>Blazor-server web app</a:t>
            </a:r>
          </a:p>
          <a:p>
            <a:pPr algn="ctr"/>
            <a:r>
              <a:rPr lang="en-US" sz="3600">
                <a:solidFill>
                  <a:schemeClr val="accent1">
                    <a:lumMod val="75000"/>
                  </a:schemeClr>
                </a:solidFill>
                <a:latin typeface="Adobe Kaiti Std R" panose="02020400000000000000" pitchFamily="18" charset="-128"/>
                <a:ea typeface="Adobe Kaiti Std R" panose="02020400000000000000" pitchFamily="18" charset="-128"/>
              </a:rPr>
              <a:t>Layers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199E45-57EA-E89E-636E-95631BBD13E5}"/>
              </a:ext>
            </a:extLst>
          </p:cNvPr>
          <p:cNvSpPr txBox="1"/>
          <p:nvPr/>
        </p:nvSpPr>
        <p:spPr>
          <a:xfrm>
            <a:off x="8489576" y="5963053"/>
            <a:ext cx="35948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400">
                <a:solidFill>
                  <a:srgbClr val="7030A0"/>
                </a:solidFill>
              </a:rPr>
              <a:t>.Net Core, C#</a:t>
            </a:r>
            <a:endParaRPr lang="en-US" sz="3200">
              <a:solidFill>
                <a:srgbClr val="7030A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D1A970-9170-80C9-165B-CE53C6D3E07C}"/>
              </a:ext>
            </a:extLst>
          </p:cNvPr>
          <p:cNvSpPr txBox="1"/>
          <p:nvPr/>
        </p:nvSpPr>
        <p:spPr>
          <a:xfrm>
            <a:off x="83332" y="5963053"/>
            <a:ext cx="80745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>
                <a:solidFill>
                  <a:srgbClr val="7030A0"/>
                </a:solidFill>
              </a:rPr>
              <a:t>HTML, Bootstrap, Javascript</a:t>
            </a:r>
            <a:endParaRPr lang="en-US" sz="320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03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B8889F-9DD3-C158-7497-A7FEC5F42C22}"/>
              </a:ext>
            </a:extLst>
          </p:cNvPr>
          <p:cNvSpPr txBox="1"/>
          <p:nvPr/>
        </p:nvSpPr>
        <p:spPr>
          <a:xfrm>
            <a:off x="71717" y="2625115"/>
            <a:ext cx="1203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40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400" b="1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|Part A                   |Part B             |Part C         |Part D                  |Part E              |</a:t>
            </a:r>
          </a:p>
          <a:p>
            <a:pPr>
              <a:buNone/>
            </a:pPr>
            <a:r>
              <a:rPr lang="en-US" sz="140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Gen|G.#(Sect)#spec#SpecAut#supspec.#ssp#sspAut#var.#var#varAut#subvar.#subvar#subvarAut#forma#forma#formaAut</a:t>
            </a:r>
          </a:p>
          <a:p>
            <a:pPr>
              <a:buNone/>
            </a:pPr>
            <a:r>
              <a:rPr lang="en-US" sz="1400" b="1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     </a:t>
            </a:r>
            <a:r>
              <a:rPr lang="en-US" sz="1400" b="1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^      ^    ^       </a:t>
            </a:r>
            <a:r>
              <a:rPr lang="en-US" sz="1400" b="1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        </a:t>
            </a:r>
            <a:r>
              <a:rPr lang="en-US" sz="1400" b="1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   ^</a:t>
            </a:r>
            <a:r>
              <a:rPr lang="en-US" sz="1400" b="1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|    </a:t>
            </a:r>
            <a:r>
              <a:rPr lang="en-US" sz="1400" b="1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   ^</a:t>
            </a:r>
            <a:r>
              <a:rPr lang="en-US" sz="1400" b="1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|       </a:t>
            </a:r>
            <a:r>
              <a:rPr lang="en-US" sz="1400" b="1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      ^</a:t>
            </a:r>
            <a:r>
              <a:rPr lang="en-US" sz="1400" b="1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|     </a:t>
            </a:r>
            <a:r>
              <a:rPr lang="en-US" sz="1400" b="1">
                <a:solidFill>
                  <a:srgbClr val="92D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     ^</a:t>
            </a:r>
            <a:r>
              <a:rPr lang="en-US" sz="1400" b="1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|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62F9D6-3CE0-19CF-6F7E-59595DE7B384}"/>
              </a:ext>
            </a:extLst>
          </p:cNvPr>
          <p:cNvSpPr txBox="1"/>
          <p:nvPr/>
        </p:nvSpPr>
        <p:spPr>
          <a:xfrm>
            <a:off x="3024009" y="1113416"/>
            <a:ext cx="61439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>
                <a:solidFill>
                  <a:schemeClr val="accent5">
                    <a:lumMod val="75000"/>
                  </a:schemeClr>
                </a:solidFill>
              </a:rPr>
              <a:t>CheckName</a:t>
            </a:r>
            <a:r>
              <a:rPr lang="en-US" sz="3600" b="1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b="1">
                <a:solidFill>
                  <a:schemeClr val="accent5">
                    <a:lumMod val="75000"/>
                  </a:schemeClr>
                </a:solidFill>
              </a:rPr>
              <a:t>app in Alamut DB</a:t>
            </a:r>
            <a:endParaRPr lang="en-US" sz="3600" b="1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sz="3200">
                <a:solidFill>
                  <a:schemeClr val="accent1">
                    <a:lumMod val="75000"/>
                  </a:schemeClr>
                </a:solidFill>
              </a:rPr>
              <a:t>parsing 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B9459-E13F-B098-5AD6-D339FBE6BE75}"/>
              </a:ext>
            </a:extLst>
          </p:cNvPr>
          <p:cNvSpPr txBox="1"/>
          <p:nvPr/>
        </p:nvSpPr>
        <p:spPr>
          <a:xfrm>
            <a:off x="1207993" y="4507015"/>
            <a:ext cx="97760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accent5"/>
                </a:solidFill>
              </a:rPr>
              <a:t>Remove double spaces, double dots, complete missing chars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accent5"/>
                </a:solidFill>
              </a:rPr>
              <a:t>Consider variants and abstractings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accent5"/>
                </a:solidFill>
              </a:rPr>
              <a:t>Find landmarks and spaces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accent5"/>
                </a:solidFill>
              </a:rPr>
              <a:t>Parse complex lines into components</a:t>
            </a:r>
            <a:endParaRPr lang="en-US" sz="200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FF9B4-E721-2599-A16C-946D93F0263D}"/>
              </a:ext>
            </a:extLst>
          </p:cNvPr>
          <p:cNvSpPr txBox="1"/>
          <p:nvPr/>
        </p:nvSpPr>
        <p:spPr>
          <a:xfrm>
            <a:off x="10984005" y="5963053"/>
            <a:ext cx="11004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400">
                <a:solidFill>
                  <a:srgbClr val="7030A0"/>
                </a:solidFill>
              </a:rPr>
              <a:t>C#</a:t>
            </a:r>
            <a:endParaRPr lang="en-US" sz="320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897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C51CD-31A3-5492-20E0-0015F1132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85401B7-B7DC-9E7A-2421-F3DBA5025E84}"/>
              </a:ext>
            </a:extLst>
          </p:cNvPr>
          <p:cNvGrpSpPr/>
          <p:nvPr/>
        </p:nvGrpSpPr>
        <p:grpSpPr>
          <a:xfrm>
            <a:off x="1492265" y="684300"/>
            <a:ext cx="9197163" cy="3197227"/>
            <a:chOff x="0" y="368960"/>
            <a:chExt cx="10572223" cy="5038746"/>
          </a:xfrm>
        </p:grpSpPr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A3A79543-8F33-3E83-5C3D-C0AD2880778D}"/>
                </a:ext>
              </a:extLst>
            </p:cNvPr>
            <p:cNvSpPr/>
            <p:nvPr/>
          </p:nvSpPr>
          <p:spPr>
            <a:xfrm>
              <a:off x="0" y="939103"/>
              <a:ext cx="10572223" cy="4468603"/>
            </a:xfrm>
            <a:custGeom>
              <a:avLst/>
              <a:gdLst>
                <a:gd name="csX0" fmla="*/ 0 w 8324850"/>
                <a:gd name="csY0" fmla="*/ 4282379 h 4282379"/>
                <a:gd name="csX1" fmla="*/ 7010400 w 8324850"/>
                <a:gd name="csY1" fmla="*/ 0 h 4282379"/>
                <a:gd name="csX2" fmla="*/ 8324850 w 8324850"/>
                <a:gd name="csY2" fmla="*/ 4282379 h 4282379"/>
                <a:gd name="csX3" fmla="*/ 0 w 8324850"/>
                <a:gd name="csY3" fmla="*/ 4282379 h 4282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324850" h="4282379">
                  <a:moveTo>
                    <a:pt x="0" y="4282379"/>
                  </a:moveTo>
                  <a:lnTo>
                    <a:pt x="7010400" y="0"/>
                  </a:lnTo>
                  <a:lnTo>
                    <a:pt x="8324850" y="4282379"/>
                  </a:lnTo>
                  <a:lnTo>
                    <a:pt x="0" y="4282379"/>
                  </a:lnTo>
                  <a:close/>
                </a:path>
              </a:pathLst>
            </a:custGeom>
            <a:solidFill>
              <a:srgbClr val="F5EE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842668A-C2D8-6E7C-6022-D0C367353C35}"/>
                </a:ext>
              </a:extLst>
            </p:cNvPr>
            <p:cNvSpPr txBox="1"/>
            <p:nvPr/>
          </p:nvSpPr>
          <p:spPr>
            <a:xfrm>
              <a:off x="779497" y="368960"/>
              <a:ext cx="6287554" cy="4171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US" sz="16600" i="1">
                  <a:solidFill>
                    <a:schemeClr val="tx1"/>
                  </a:solidFill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Al</a:t>
              </a:r>
              <a:r>
                <a:rPr lang="en-US" sz="16600" i="1"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a</a:t>
              </a:r>
              <a:r>
                <a:rPr lang="en-US" sz="16600" i="1">
                  <a:solidFill>
                    <a:srgbClr val="C00000"/>
                  </a:solidFill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m</a:t>
              </a:r>
              <a:r>
                <a:rPr lang="en-US" sz="16600" i="1">
                  <a:solidFill>
                    <a:schemeClr val="tx1"/>
                  </a:solidFill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ut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6F6AEBB-0F3D-38E7-2DA1-F43A65649DF9}"/>
              </a:ext>
            </a:extLst>
          </p:cNvPr>
          <p:cNvSpPr txBox="1"/>
          <p:nvPr/>
        </p:nvSpPr>
        <p:spPr>
          <a:xfrm>
            <a:off x="1516259" y="4243299"/>
            <a:ext cx="91491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>
                <a:solidFill>
                  <a:schemeClr val="accent4">
                    <a:lumMod val="75000"/>
                  </a:schemeClr>
                </a:solidFill>
                <a:latin typeface="Perpetua Titling MT" panose="02020502060505020804" pitchFamily="18" charset="0"/>
              </a:rPr>
              <a:t>Diversity </a:t>
            </a:r>
            <a:r>
              <a:rPr lang="en-US" sz="4400">
                <a:solidFill>
                  <a:schemeClr val="accent4">
                    <a:lumMod val="75000"/>
                  </a:schemeClr>
                </a:solidFill>
                <a:latin typeface="Perpetua Titling MT" panose="02020502060505020804" pitchFamily="18" charset="0"/>
              </a:rPr>
              <a:t>of Datasets</a:t>
            </a:r>
            <a:endParaRPr lang="en-US" sz="7200">
              <a:solidFill>
                <a:schemeClr val="accent4">
                  <a:lumMod val="75000"/>
                </a:schemeClr>
              </a:solidFill>
              <a:latin typeface="Perpetua Titling MT" panose="020205020605050208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36079E-A57E-EC36-A478-CF158243AD93}"/>
              </a:ext>
            </a:extLst>
          </p:cNvPr>
          <p:cNvSpPr txBox="1"/>
          <p:nvPr/>
        </p:nvSpPr>
        <p:spPr>
          <a:xfrm>
            <a:off x="4034832" y="5614900"/>
            <a:ext cx="41120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chemeClr val="accent5"/>
                </a:solidFill>
                <a:latin typeface="Perpetua Titling MT" panose="02020502060505020804" pitchFamily="18" charset="0"/>
              </a:rPr>
              <a:t>Using Alamut</a:t>
            </a:r>
          </a:p>
        </p:txBody>
      </p:sp>
    </p:spTree>
    <p:extLst>
      <p:ext uri="{BB962C8B-B14F-4D97-AF65-F5344CB8AC3E}">
        <p14:creationId xmlns:p14="http://schemas.microsoft.com/office/powerpoint/2010/main" val="1769166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842A22-D2AA-98B1-9E1C-3A088E14EAB4}"/>
              </a:ext>
            </a:extLst>
          </p:cNvPr>
          <p:cNvSpPr/>
          <p:nvPr/>
        </p:nvSpPr>
        <p:spPr>
          <a:xfrm>
            <a:off x="617837" y="189547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D618A8-5C30-41BC-C72B-57D6615EA979}"/>
              </a:ext>
            </a:extLst>
          </p:cNvPr>
          <p:cNvSpPr/>
          <p:nvPr/>
        </p:nvSpPr>
        <p:spPr>
          <a:xfrm>
            <a:off x="617837" y="249237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625EFA-D815-A892-F9BA-1EC9A9271A21}"/>
              </a:ext>
            </a:extLst>
          </p:cNvPr>
          <p:cNvSpPr/>
          <p:nvPr/>
        </p:nvSpPr>
        <p:spPr>
          <a:xfrm>
            <a:off x="617837" y="310197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51B55C-0153-839D-3666-338BC82D7DE1}"/>
              </a:ext>
            </a:extLst>
          </p:cNvPr>
          <p:cNvSpPr/>
          <p:nvPr/>
        </p:nvSpPr>
        <p:spPr>
          <a:xfrm>
            <a:off x="617837" y="371157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25E1038-022F-E38E-2186-BF3258C75B65}"/>
              </a:ext>
            </a:extLst>
          </p:cNvPr>
          <p:cNvSpPr/>
          <p:nvPr/>
        </p:nvSpPr>
        <p:spPr>
          <a:xfrm>
            <a:off x="617837" y="43021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7139C8C-C3A7-0886-EF60-883C59E3C953}"/>
              </a:ext>
            </a:extLst>
          </p:cNvPr>
          <p:cNvSpPr/>
          <p:nvPr/>
        </p:nvSpPr>
        <p:spPr>
          <a:xfrm>
            <a:off x="617837" y="48990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9BE8EAC-E6E0-5C0B-CA43-8759A74EE86B}"/>
              </a:ext>
            </a:extLst>
          </p:cNvPr>
          <p:cNvSpPr/>
          <p:nvPr/>
        </p:nvSpPr>
        <p:spPr>
          <a:xfrm>
            <a:off x="617837" y="55086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81F8DE0-F6F7-6657-9173-AD187989DE11}"/>
              </a:ext>
            </a:extLst>
          </p:cNvPr>
          <p:cNvSpPr/>
          <p:nvPr/>
        </p:nvSpPr>
        <p:spPr>
          <a:xfrm>
            <a:off x="617837" y="61182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843771-C29B-EACC-268F-C519F19DA480}"/>
              </a:ext>
            </a:extLst>
          </p:cNvPr>
          <p:cNvSpPr txBox="1"/>
          <p:nvPr/>
        </p:nvSpPr>
        <p:spPr>
          <a:xfrm>
            <a:off x="0" y="791705"/>
            <a:ext cx="2398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0">
                <a:latin typeface="Barlow Condensed ExtraLight" panose="00000306000000000000" pitchFamily="2" charset="0"/>
              </a:rPr>
              <a:t>Datasets</a:t>
            </a:r>
          </a:p>
        </p:txBody>
      </p:sp>
    </p:spTree>
    <p:extLst>
      <p:ext uri="{BB962C8B-B14F-4D97-AF65-F5344CB8AC3E}">
        <p14:creationId xmlns:p14="http://schemas.microsoft.com/office/powerpoint/2010/main" val="360872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D2405-BD0C-79BE-F15F-BFD598708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6525E73-9708-A388-EE50-86EF7C045396}"/>
              </a:ext>
            </a:extLst>
          </p:cNvPr>
          <p:cNvSpPr/>
          <p:nvPr/>
        </p:nvSpPr>
        <p:spPr>
          <a:xfrm>
            <a:off x="2959100" y="2828925"/>
            <a:ext cx="1828800" cy="29527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6D6F2E6-E3C9-F24C-294D-04D455795252}"/>
              </a:ext>
            </a:extLst>
          </p:cNvPr>
          <p:cNvSpPr/>
          <p:nvPr/>
        </p:nvSpPr>
        <p:spPr>
          <a:xfrm>
            <a:off x="617837" y="189547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6D5E4E-79FA-720C-D465-93927684B259}"/>
              </a:ext>
            </a:extLst>
          </p:cNvPr>
          <p:cNvSpPr/>
          <p:nvPr/>
        </p:nvSpPr>
        <p:spPr>
          <a:xfrm>
            <a:off x="617837" y="249237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0261D7-351B-4CD7-B5A7-24A2BFFE8C6E}"/>
              </a:ext>
            </a:extLst>
          </p:cNvPr>
          <p:cNvSpPr/>
          <p:nvPr/>
        </p:nvSpPr>
        <p:spPr>
          <a:xfrm>
            <a:off x="617837" y="310197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91B17C-2464-A53F-6E28-91930C9BE3AE}"/>
              </a:ext>
            </a:extLst>
          </p:cNvPr>
          <p:cNvSpPr/>
          <p:nvPr/>
        </p:nvSpPr>
        <p:spPr>
          <a:xfrm>
            <a:off x="617837" y="371157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C7EEE4-82F0-9F00-366B-EA2C2982F188}"/>
              </a:ext>
            </a:extLst>
          </p:cNvPr>
          <p:cNvSpPr/>
          <p:nvPr/>
        </p:nvSpPr>
        <p:spPr>
          <a:xfrm>
            <a:off x="617837" y="43021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B0234F-98C1-8697-410C-4A12E2FFB4BA}"/>
              </a:ext>
            </a:extLst>
          </p:cNvPr>
          <p:cNvSpPr/>
          <p:nvPr/>
        </p:nvSpPr>
        <p:spPr>
          <a:xfrm>
            <a:off x="617837" y="48990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E49F6DC-096B-02A8-C4A9-7E8E38D6D637}"/>
              </a:ext>
            </a:extLst>
          </p:cNvPr>
          <p:cNvSpPr/>
          <p:nvPr/>
        </p:nvSpPr>
        <p:spPr>
          <a:xfrm>
            <a:off x="617837" y="55086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A822AB1-8F2B-71A6-9EA5-1AF48392DFD5}"/>
              </a:ext>
            </a:extLst>
          </p:cNvPr>
          <p:cNvSpPr/>
          <p:nvPr/>
        </p:nvSpPr>
        <p:spPr>
          <a:xfrm>
            <a:off x="617837" y="61182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788F5A1-DEE3-F64A-1E01-026F39D9CA6E}"/>
              </a:ext>
            </a:extLst>
          </p:cNvPr>
          <p:cNvSpPr/>
          <p:nvPr/>
        </p:nvSpPr>
        <p:spPr>
          <a:xfrm>
            <a:off x="3295650" y="30956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E82E3C0-2B4F-679C-A034-ABCCADD3857F}"/>
              </a:ext>
            </a:extLst>
          </p:cNvPr>
          <p:cNvSpPr/>
          <p:nvPr/>
        </p:nvSpPr>
        <p:spPr>
          <a:xfrm>
            <a:off x="3295650" y="36925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0B085F2-AADD-71FF-6778-D47AA5542711}"/>
              </a:ext>
            </a:extLst>
          </p:cNvPr>
          <p:cNvSpPr/>
          <p:nvPr/>
        </p:nvSpPr>
        <p:spPr>
          <a:xfrm>
            <a:off x="3295650" y="43021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CF656A6-FD83-EB24-6568-95357E12060E}"/>
              </a:ext>
            </a:extLst>
          </p:cNvPr>
          <p:cNvSpPr/>
          <p:nvPr/>
        </p:nvSpPr>
        <p:spPr>
          <a:xfrm>
            <a:off x="3295650" y="49117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4BEBF5-FD17-C7D4-19E6-456B79B6AFDE}"/>
              </a:ext>
            </a:extLst>
          </p:cNvPr>
          <p:cNvSpPr txBox="1"/>
          <p:nvPr/>
        </p:nvSpPr>
        <p:spPr>
          <a:xfrm>
            <a:off x="2320741" y="1839118"/>
            <a:ext cx="30460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0">
                <a:latin typeface="Barlow Condensed ExtraLight" panose="00000306000000000000" pitchFamily="2" charset="0"/>
              </a:rPr>
              <a:t>Set </a:t>
            </a:r>
            <a:r>
              <a:rPr lang="en-US" sz="4000">
                <a:latin typeface="Barlow Condensed ExtraLight" panose="00000306000000000000" pitchFamily="2" charset="0"/>
              </a:rPr>
              <a:t>of datasets</a:t>
            </a:r>
            <a:endParaRPr lang="en-US" sz="6000">
              <a:latin typeface="Barlow Condensed ExtraLight" panose="00000306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52E8B4-BFD0-F589-99D9-A551C315EB3C}"/>
              </a:ext>
            </a:extLst>
          </p:cNvPr>
          <p:cNvSpPr txBox="1"/>
          <p:nvPr/>
        </p:nvSpPr>
        <p:spPr>
          <a:xfrm>
            <a:off x="0" y="791705"/>
            <a:ext cx="2398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0">
                <a:latin typeface="Barlow Condensed ExtraLight" panose="00000306000000000000" pitchFamily="2" charset="0"/>
              </a:rPr>
              <a:t>Datasets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FC89376-37F1-32A8-6D0D-73F5253CF2E9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697337" y="2765425"/>
            <a:ext cx="1477663" cy="64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39845C0-50CF-C594-BD61-73D6721F12E0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1697337" y="4074319"/>
            <a:ext cx="1477663" cy="500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2BC0299-D443-EBC4-82DC-BB0E94680AB2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1697337" y="4670425"/>
            <a:ext cx="1439563" cy="501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A6A28A5-B209-453A-440F-97442E699F23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1697337" y="5246687"/>
            <a:ext cx="1439563" cy="1144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379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96C12-FAAA-42C2-B590-19F743618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26F7B7C-0038-3EF2-3AD0-2F9CFB6009E1}"/>
              </a:ext>
            </a:extLst>
          </p:cNvPr>
          <p:cNvSpPr/>
          <p:nvPr/>
        </p:nvSpPr>
        <p:spPr>
          <a:xfrm>
            <a:off x="2959100" y="2828925"/>
            <a:ext cx="1828800" cy="29527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704BAD-2A6A-17EA-5B88-DCF1487C77AA}"/>
              </a:ext>
            </a:extLst>
          </p:cNvPr>
          <p:cNvSpPr/>
          <p:nvPr/>
        </p:nvSpPr>
        <p:spPr>
          <a:xfrm>
            <a:off x="617837" y="189547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9B6359-D14E-0A2F-F86B-759B1DEFF944}"/>
              </a:ext>
            </a:extLst>
          </p:cNvPr>
          <p:cNvSpPr/>
          <p:nvPr/>
        </p:nvSpPr>
        <p:spPr>
          <a:xfrm>
            <a:off x="617837" y="249237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9BC0A5-2E30-55EA-1B13-C814C56094C8}"/>
              </a:ext>
            </a:extLst>
          </p:cNvPr>
          <p:cNvSpPr/>
          <p:nvPr/>
        </p:nvSpPr>
        <p:spPr>
          <a:xfrm>
            <a:off x="617837" y="310197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0CC760-C2F8-00FB-C0DE-475D13887F22}"/>
              </a:ext>
            </a:extLst>
          </p:cNvPr>
          <p:cNvSpPr/>
          <p:nvPr/>
        </p:nvSpPr>
        <p:spPr>
          <a:xfrm>
            <a:off x="617837" y="371157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F0AB5E0-1F87-3E2B-3308-114BC7D6C3D7}"/>
              </a:ext>
            </a:extLst>
          </p:cNvPr>
          <p:cNvSpPr/>
          <p:nvPr/>
        </p:nvSpPr>
        <p:spPr>
          <a:xfrm>
            <a:off x="617837" y="43021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C77EC6-35B2-0BD6-0424-04C5525E903E}"/>
              </a:ext>
            </a:extLst>
          </p:cNvPr>
          <p:cNvSpPr/>
          <p:nvPr/>
        </p:nvSpPr>
        <p:spPr>
          <a:xfrm>
            <a:off x="617837" y="48990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454DF9A-AB12-4EAD-E56D-257D8908B242}"/>
              </a:ext>
            </a:extLst>
          </p:cNvPr>
          <p:cNvSpPr/>
          <p:nvPr/>
        </p:nvSpPr>
        <p:spPr>
          <a:xfrm>
            <a:off x="617837" y="55086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F159FE7-3552-ED1E-97DA-521AFDF074EC}"/>
              </a:ext>
            </a:extLst>
          </p:cNvPr>
          <p:cNvSpPr/>
          <p:nvPr/>
        </p:nvSpPr>
        <p:spPr>
          <a:xfrm>
            <a:off x="617837" y="61182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64B67AC-8D23-E19E-3E1E-E07835850700}"/>
              </a:ext>
            </a:extLst>
          </p:cNvPr>
          <p:cNvSpPr/>
          <p:nvPr/>
        </p:nvSpPr>
        <p:spPr>
          <a:xfrm>
            <a:off x="3295650" y="30956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BA49C04-D8D5-FBA4-C43C-FE2656B48EF8}"/>
              </a:ext>
            </a:extLst>
          </p:cNvPr>
          <p:cNvSpPr/>
          <p:nvPr/>
        </p:nvSpPr>
        <p:spPr>
          <a:xfrm>
            <a:off x="3295650" y="36925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72B71F8-F3B4-FC3D-9EF9-13A69836D9DC}"/>
              </a:ext>
            </a:extLst>
          </p:cNvPr>
          <p:cNvSpPr/>
          <p:nvPr/>
        </p:nvSpPr>
        <p:spPr>
          <a:xfrm>
            <a:off x="3295650" y="43021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6EDA68C-88F1-C9C6-0BF3-20BF7CEBBC36}"/>
              </a:ext>
            </a:extLst>
          </p:cNvPr>
          <p:cNvSpPr/>
          <p:nvPr/>
        </p:nvSpPr>
        <p:spPr>
          <a:xfrm>
            <a:off x="3295650" y="4911725"/>
            <a:ext cx="1079500" cy="54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2ACC36-71D1-2343-A92A-AFD450099FE5}"/>
              </a:ext>
            </a:extLst>
          </p:cNvPr>
          <p:cNvSpPr txBox="1"/>
          <p:nvPr/>
        </p:nvSpPr>
        <p:spPr>
          <a:xfrm>
            <a:off x="2320741" y="1839118"/>
            <a:ext cx="30460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0">
                <a:latin typeface="Barlow Condensed ExtraLight" panose="00000306000000000000" pitchFamily="2" charset="0"/>
              </a:rPr>
              <a:t>Set </a:t>
            </a:r>
            <a:r>
              <a:rPr lang="en-US" sz="4000">
                <a:latin typeface="Barlow Condensed ExtraLight" panose="00000306000000000000" pitchFamily="2" charset="0"/>
              </a:rPr>
              <a:t>of datasets</a:t>
            </a:r>
            <a:endParaRPr lang="en-US" sz="6000">
              <a:latin typeface="Barlow Condensed ExtraLight" panose="00000306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7D222A-4450-A645-C908-7976993A2EF3}"/>
              </a:ext>
            </a:extLst>
          </p:cNvPr>
          <p:cNvSpPr txBox="1"/>
          <p:nvPr/>
        </p:nvSpPr>
        <p:spPr>
          <a:xfrm>
            <a:off x="0" y="791705"/>
            <a:ext cx="23984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0">
                <a:latin typeface="Barlow Condensed ExtraLight" panose="00000306000000000000" pitchFamily="2" charset="0"/>
              </a:rPr>
              <a:t>Datasets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67D5DD1-2C95-EC06-F367-D1F84026E578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697337" y="2765425"/>
            <a:ext cx="1477663" cy="64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937A647-6A30-81C7-16B8-533E0DFAFB29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1697337" y="4074319"/>
            <a:ext cx="1477663" cy="500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1C392E7-CD91-06B5-B69B-85F410224BA7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1697337" y="4670425"/>
            <a:ext cx="1439563" cy="501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1B5D72A-3300-EB7E-E938-AB9EBCDD2994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1697337" y="5246687"/>
            <a:ext cx="1439563" cy="1144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CABA673D-D116-52D9-755A-54D80139E834}"/>
              </a:ext>
            </a:extLst>
          </p:cNvPr>
          <p:cNvSpPr/>
          <p:nvPr/>
        </p:nvSpPr>
        <p:spPr>
          <a:xfrm>
            <a:off x="4908550" y="4185046"/>
            <a:ext cx="3118182" cy="4413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B55CE7-B942-98AE-074A-B04EFFE4B248}"/>
              </a:ext>
            </a:extLst>
          </p:cNvPr>
          <p:cNvSpPr txBox="1"/>
          <p:nvPr/>
        </p:nvSpPr>
        <p:spPr>
          <a:xfrm>
            <a:off x="5539421" y="4302125"/>
            <a:ext cx="21964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0">
                <a:latin typeface="Barlow Condensed ExtraLight" panose="00000306000000000000" pitchFamily="2" charset="0"/>
              </a:rPr>
              <a:t>Analysis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E2E288B-7290-E25C-F0FE-FFA4EA8E2718}"/>
              </a:ext>
            </a:extLst>
          </p:cNvPr>
          <p:cNvSpPr/>
          <p:nvPr/>
        </p:nvSpPr>
        <p:spPr>
          <a:xfrm>
            <a:off x="8140702" y="3018631"/>
            <a:ext cx="3860798" cy="2952750"/>
          </a:xfrm>
          <a:prstGeom prst="roundRect">
            <a:avLst>
              <a:gd name="adj" fmla="val 8495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B5C873-2970-9836-1EDC-A9F1BB91395D}"/>
              </a:ext>
            </a:extLst>
          </p:cNvPr>
          <p:cNvSpPr txBox="1"/>
          <p:nvPr/>
        </p:nvSpPr>
        <p:spPr>
          <a:xfrm>
            <a:off x="9064254" y="2025818"/>
            <a:ext cx="20136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0">
                <a:latin typeface="Barlow Condensed ExtraLight" panose="00000306000000000000" pitchFamily="2" charset="0"/>
              </a:rPr>
              <a:t>Results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3B5EC35-9671-70FE-B330-2DFAB42002C9}"/>
              </a:ext>
            </a:extLst>
          </p:cNvPr>
          <p:cNvCxnSpPr/>
          <p:nvPr/>
        </p:nvCxnSpPr>
        <p:spPr>
          <a:xfrm>
            <a:off x="8699500" y="3517900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A881251-B379-6235-F5A6-953C25BC3097}"/>
              </a:ext>
            </a:extLst>
          </p:cNvPr>
          <p:cNvCxnSpPr/>
          <p:nvPr/>
        </p:nvCxnSpPr>
        <p:spPr>
          <a:xfrm>
            <a:off x="8699500" y="3794293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B858BD2-2D2B-1E06-D641-B8A0E6480556}"/>
              </a:ext>
            </a:extLst>
          </p:cNvPr>
          <p:cNvCxnSpPr/>
          <p:nvPr/>
        </p:nvCxnSpPr>
        <p:spPr>
          <a:xfrm>
            <a:off x="8699500" y="4129315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012C2FA-2EE1-829C-5873-398386AFADAD}"/>
              </a:ext>
            </a:extLst>
          </p:cNvPr>
          <p:cNvCxnSpPr/>
          <p:nvPr/>
        </p:nvCxnSpPr>
        <p:spPr>
          <a:xfrm>
            <a:off x="8699500" y="4405708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2FD1A67-D8B3-9713-8334-1C34F0E3FD47}"/>
              </a:ext>
            </a:extLst>
          </p:cNvPr>
          <p:cNvCxnSpPr/>
          <p:nvPr/>
        </p:nvCxnSpPr>
        <p:spPr>
          <a:xfrm>
            <a:off x="8699500" y="4670425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017621A-2061-2BA2-3223-F3D6D453FD08}"/>
              </a:ext>
            </a:extLst>
          </p:cNvPr>
          <p:cNvCxnSpPr/>
          <p:nvPr/>
        </p:nvCxnSpPr>
        <p:spPr>
          <a:xfrm>
            <a:off x="8699500" y="4946818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DB0D087-7174-0598-87FB-FCBF0BACB3C5}"/>
              </a:ext>
            </a:extLst>
          </p:cNvPr>
          <p:cNvCxnSpPr/>
          <p:nvPr/>
        </p:nvCxnSpPr>
        <p:spPr>
          <a:xfrm>
            <a:off x="8699500" y="5281840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66AFCAA-4F7A-4DAF-AF20-81F7C11A3467}"/>
              </a:ext>
            </a:extLst>
          </p:cNvPr>
          <p:cNvCxnSpPr/>
          <p:nvPr/>
        </p:nvCxnSpPr>
        <p:spPr>
          <a:xfrm>
            <a:off x="8699500" y="5558233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A6088C3-C953-A6B4-508D-2C2739CFFDD0}"/>
              </a:ext>
            </a:extLst>
          </p:cNvPr>
          <p:cNvCxnSpPr/>
          <p:nvPr/>
        </p:nvCxnSpPr>
        <p:spPr>
          <a:xfrm>
            <a:off x="9410700" y="3517900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4ECC6E2-8D4C-78AD-B3C8-6BD175978C79}"/>
              </a:ext>
            </a:extLst>
          </p:cNvPr>
          <p:cNvCxnSpPr/>
          <p:nvPr/>
        </p:nvCxnSpPr>
        <p:spPr>
          <a:xfrm>
            <a:off x="9410700" y="3794293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97778DD-FABF-3102-964E-8649F5BB1151}"/>
              </a:ext>
            </a:extLst>
          </p:cNvPr>
          <p:cNvCxnSpPr/>
          <p:nvPr/>
        </p:nvCxnSpPr>
        <p:spPr>
          <a:xfrm>
            <a:off x="9410700" y="4129315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B350C53-EC03-F4F8-3707-0A25917FD4D2}"/>
              </a:ext>
            </a:extLst>
          </p:cNvPr>
          <p:cNvCxnSpPr/>
          <p:nvPr/>
        </p:nvCxnSpPr>
        <p:spPr>
          <a:xfrm>
            <a:off x="9410700" y="4405708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E15F152-20D0-22C4-D225-B30749658878}"/>
              </a:ext>
            </a:extLst>
          </p:cNvPr>
          <p:cNvCxnSpPr/>
          <p:nvPr/>
        </p:nvCxnSpPr>
        <p:spPr>
          <a:xfrm>
            <a:off x="9410700" y="4670425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CEAF815-D98E-0AB0-77B5-7786148B4831}"/>
              </a:ext>
            </a:extLst>
          </p:cNvPr>
          <p:cNvCxnSpPr/>
          <p:nvPr/>
        </p:nvCxnSpPr>
        <p:spPr>
          <a:xfrm>
            <a:off x="9410700" y="4946818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210BDAE-DBFA-8A61-376E-C22A2F4EC239}"/>
              </a:ext>
            </a:extLst>
          </p:cNvPr>
          <p:cNvCxnSpPr/>
          <p:nvPr/>
        </p:nvCxnSpPr>
        <p:spPr>
          <a:xfrm>
            <a:off x="9410700" y="5281840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E436103-72D7-5B89-25BF-E97BA94A899F}"/>
              </a:ext>
            </a:extLst>
          </p:cNvPr>
          <p:cNvCxnSpPr/>
          <p:nvPr/>
        </p:nvCxnSpPr>
        <p:spPr>
          <a:xfrm>
            <a:off x="9410700" y="5558233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7F8A84E-5319-5FEF-EB91-EDA9862B0F9A}"/>
              </a:ext>
            </a:extLst>
          </p:cNvPr>
          <p:cNvCxnSpPr/>
          <p:nvPr/>
        </p:nvCxnSpPr>
        <p:spPr>
          <a:xfrm>
            <a:off x="10227047" y="3517900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E881456-FAC6-056F-6959-8FB653A87404}"/>
              </a:ext>
            </a:extLst>
          </p:cNvPr>
          <p:cNvCxnSpPr/>
          <p:nvPr/>
        </p:nvCxnSpPr>
        <p:spPr>
          <a:xfrm>
            <a:off x="10227047" y="3794293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DA42CF6-E033-E6A8-D118-6E17A2D56DC4}"/>
              </a:ext>
            </a:extLst>
          </p:cNvPr>
          <p:cNvCxnSpPr/>
          <p:nvPr/>
        </p:nvCxnSpPr>
        <p:spPr>
          <a:xfrm>
            <a:off x="10227047" y="4129315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273F911-5AA0-20A6-46F2-6F495A25741B}"/>
              </a:ext>
            </a:extLst>
          </p:cNvPr>
          <p:cNvCxnSpPr/>
          <p:nvPr/>
        </p:nvCxnSpPr>
        <p:spPr>
          <a:xfrm>
            <a:off x="10227047" y="4405708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91B7F28-7E89-B815-CFFD-0178E76EEF80}"/>
              </a:ext>
            </a:extLst>
          </p:cNvPr>
          <p:cNvCxnSpPr/>
          <p:nvPr/>
        </p:nvCxnSpPr>
        <p:spPr>
          <a:xfrm>
            <a:off x="10227047" y="4670425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544F3A9-D4C9-E4FF-3E99-EEF5AE4CD320}"/>
              </a:ext>
            </a:extLst>
          </p:cNvPr>
          <p:cNvCxnSpPr/>
          <p:nvPr/>
        </p:nvCxnSpPr>
        <p:spPr>
          <a:xfrm>
            <a:off x="10227047" y="4946818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0C01BA8-3C38-D9E9-56BA-925A79C95941}"/>
              </a:ext>
            </a:extLst>
          </p:cNvPr>
          <p:cNvCxnSpPr/>
          <p:nvPr/>
        </p:nvCxnSpPr>
        <p:spPr>
          <a:xfrm>
            <a:off x="10227047" y="5281840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ED1F0C5-0517-2498-AF73-FFD3B0C79C10}"/>
              </a:ext>
            </a:extLst>
          </p:cNvPr>
          <p:cNvCxnSpPr/>
          <p:nvPr/>
        </p:nvCxnSpPr>
        <p:spPr>
          <a:xfrm>
            <a:off x="10227047" y="5558233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F2199B3-2877-3A65-B350-54A1987F2E33}"/>
              </a:ext>
            </a:extLst>
          </p:cNvPr>
          <p:cNvCxnSpPr/>
          <p:nvPr/>
        </p:nvCxnSpPr>
        <p:spPr>
          <a:xfrm>
            <a:off x="10938247" y="3517900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FB93396-9D61-2C72-1FA9-7451BC367778}"/>
              </a:ext>
            </a:extLst>
          </p:cNvPr>
          <p:cNvCxnSpPr/>
          <p:nvPr/>
        </p:nvCxnSpPr>
        <p:spPr>
          <a:xfrm>
            <a:off x="10938247" y="3794293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FBEE73-A9A0-3A6F-7EDB-4878E9D1618B}"/>
              </a:ext>
            </a:extLst>
          </p:cNvPr>
          <p:cNvCxnSpPr/>
          <p:nvPr/>
        </p:nvCxnSpPr>
        <p:spPr>
          <a:xfrm>
            <a:off x="10938247" y="4129315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FC30B59-63DB-A0A7-E870-5DAF7C25F62E}"/>
              </a:ext>
            </a:extLst>
          </p:cNvPr>
          <p:cNvCxnSpPr/>
          <p:nvPr/>
        </p:nvCxnSpPr>
        <p:spPr>
          <a:xfrm>
            <a:off x="10938247" y="4405708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7265681-60D8-90FC-FFC2-2273281B1FFA}"/>
              </a:ext>
            </a:extLst>
          </p:cNvPr>
          <p:cNvCxnSpPr/>
          <p:nvPr/>
        </p:nvCxnSpPr>
        <p:spPr>
          <a:xfrm>
            <a:off x="10938247" y="4670425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640F2A9-3C25-E7D5-D1F0-4438A6716C09}"/>
              </a:ext>
            </a:extLst>
          </p:cNvPr>
          <p:cNvCxnSpPr/>
          <p:nvPr/>
        </p:nvCxnSpPr>
        <p:spPr>
          <a:xfrm>
            <a:off x="10938247" y="4946818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C18D480-4CD6-E049-FD81-458E66DF362F}"/>
              </a:ext>
            </a:extLst>
          </p:cNvPr>
          <p:cNvCxnSpPr/>
          <p:nvPr/>
        </p:nvCxnSpPr>
        <p:spPr>
          <a:xfrm>
            <a:off x="10938247" y="5281840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658595C-707B-602A-7AC9-C593CA426A27}"/>
              </a:ext>
            </a:extLst>
          </p:cNvPr>
          <p:cNvCxnSpPr/>
          <p:nvPr/>
        </p:nvCxnSpPr>
        <p:spPr>
          <a:xfrm>
            <a:off x="10938247" y="5558233"/>
            <a:ext cx="266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157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72D146-FBFA-6365-DDE8-27BE320378EF}"/>
              </a:ext>
            </a:extLst>
          </p:cNvPr>
          <p:cNvSpPr txBox="1"/>
          <p:nvPr/>
        </p:nvSpPr>
        <p:spPr>
          <a:xfrm>
            <a:off x="452413" y="634015"/>
            <a:ext cx="1055191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0" b="1">
                <a:latin typeface="Barlow Condensed ExtraLight" panose="00000306000000000000" pitchFamily="2" charset="0"/>
              </a:rPr>
              <a:t>Example:</a:t>
            </a:r>
          </a:p>
          <a:p>
            <a:pPr algn="l"/>
            <a:r>
              <a:rPr lang="en-US" sz="6000">
                <a:latin typeface="Barlow Condensed ExtraLight" panose="00000306000000000000" pitchFamily="2" charset="0"/>
              </a:rPr>
              <a:t>Diversity measures of </a:t>
            </a:r>
          </a:p>
          <a:p>
            <a:r>
              <a:rPr lang="en-US" sz="6000">
                <a:latin typeface="Barlow Condensed ExtraLight" panose="00000306000000000000" pitchFamily="2" charset="0"/>
              </a:rPr>
              <a:t>selected published Local Flora in:</a:t>
            </a:r>
          </a:p>
          <a:p>
            <a:pPr algn="l"/>
            <a:endParaRPr lang="en-US" sz="6000">
              <a:latin typeface="Barlow Condensed ExtraLight" panose="00000306000000000000" pitchFamily="2" charset="0"/>
            </a:endParaRPr>
          </a:p>
          <a:p>
            <a:pPr algn="l"/>
            <a:r>
              <a:rPr lang="en-US" sz="6000" b="1">
                <a:solidFill>
                  <a:schemeClr val="bg2">
                    <a:lumMod val="75000"/>
                  </a:schemeClr>
                </a:solidFill>
                <a:latin typeface="Barlow Condensed ExtraLight" panose="00000306000000000000" pitchFamily="2" charset="0"/>
              </a:rPr>
              <a:t>UAE</a:t>
            </a:r>
            <a:r>
              <a:rPr lang="en-US" sz="6000">
                <a:latin typeface="Barlow Condensed ExtraLight" panose="00000306000000000000" pitchFamily="2" charset="0"/>
              </a:rPr>
              <a:t> and </a:t>
            </a:r>
            <a:r>
              <a:rPr lang="en-US" sz="6000" b="1">
                <a:solidFill>
                  <a:schemeClr val="bg2">
                    <a:lumMod val="75000"/>
                  </a:schemeClr>
                </a:solidFill>
                <a:latin typeface="Barlow Condensed ExtraLight" panose="00000306000000000000" pitchFamily="2" charset="0"/>
              </a:rPr>
              <a:t>Saudi Arabia</a:t>
            </a:r>
          </a:p>
        </p:txBody>
      </p:sp>
    </p:spTree>
    <p:extLst>
      <p:ext uri="{BB962C8B-B14F-4D97-AF65-F5344CB8AC3E}">
        <p14:creationId xmlns:p14="http://schemas.microsoft.com/office/powerpoint/2010/main" val="3494190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295FA-08DB-80C4-02A1-EADB21B8B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99B57FE-5F35-7B09-DDFD-FE7A062D7596}"/>
              </a:ext>
            </a:extLst>
          </p:cNvPr>
          <p:cNvGrpSpPr/>
          <p:nvPr/>
        </p:nvGrpSpPr>
        <p:grpSpPr>
          <a:xfrm>
            <a:off x="1492265" y="684300"/>
            <a:ext cx="9197163" cy="3197227"/>
            <a:chOff x="0" y="368960"/>
            <a:chExt cx="10572223" cy="5038746"/>
          </a:xfrm>
        </p:grpSpPr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04F3E7FD-A317-6AC2-7359-4374943CEBC7}"/>
                </a:ext>
              </a:extLst>
            </p:cNvPr>
            <p:cNvSpPr/>
            <p:nvPr/>
          </p:nvSpPr>
          <p:spPr>
            <a:xfrm>
              <a:off x="0" y="939103"/>
              <a:ext cx="10572223" cy="4468603"/>
            </a:xfrm>
            <a:custGeom>
              <a:avLst/>
              <a:gdLst>
                <a:gd name="csX0" fmla="*/ 0 w 8324850"/>
                <a:gd name="csY0" fmla="*/ 4282379 h 4282379"/>
                <a:gd name="csX1" fmla="*/ 7010400 w 8324850"/>
                <a:gd name="csY1" fmla="*/ 0 h 4282379"/>
                <a:gd name="csX2" fmla="*/ 8324850 w 8324850"/>
                <a:gd name="csY2" fmla="*/ 4282379 h 4282379"/>
                <a:gd name="csX3" fmla="*/ 0 w 8324850"/>
                <a:gd name="csY3" fmla="*/ 4282379 h 4282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324850" h="4282379">
                  <a:moveTo>
                    <a:pt x="0" y="4282379"/>
                  </a:moveTo>
                  <a:lnTo>
                    <a:pt x="7010400" y="0"/>
                  </a:lnTo>
                  <a:lnTo>
                    <a:pt x="8324850" y="4282379"/>
                  </a:lnTo>
                  <a:lnTo>
                    <a:pt x="0" y="4282379"/>
                  </a:lnTo>
                  <a:close/>
                </a:path>
              </a:pathLst>
            </a:custGeom>
            <a:solidFill>
              <a:srgbClr val="E3D4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C193DB6-3AE7-70E9-3038-5BF233BD451C}"/>
                </a:ext>
              </a:extLst>
            </p:cNvPr>
            <p:cNvSpPr txBox="1"/>
            <p:nvPr/>
          </p:nvSpPr>
          <p:spPr>
            <a:xfrm>
              <a:off x="779497" y="368960"/>
              <a:ext cx="6287554" cy="4171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US" sz="16600" i="1">
                  <a:solidFill>
                    <a:schemeClr val="tx1"/>
                  </a:solidFill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Al</a:t>
              </a:r>
              <a:r>
                <a:rPr lang="en-US" sz="16600" i="1"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a</a:t>
              </a:r>
              <a:r>
                <a:rPr lang="en-US" sz="16600" i="1">
                  <a:solidFill>
                    <a:srgbClr val="C00000"/>
                  </a:solidFill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m</a:t>
              </a:r>
              <a:r>
                <a:rPr lang="en-US" sz="16600" i="1">
                  <a:solidFill>
                    <a:schemeClr val="tx1"/>
                  </a:solidFill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ut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DAE3BDE-7625-C0BB-2816-A09997741B37}"/>
              </a:ext>
            </a:extLst>
          </p:cNvPr>
          <p:cNvSpPr txBox="1"/>
          <p:nvPr/>
        </p:nvSpPr>
        <p:spPr>
          <a:xfrm>
            <a:off x="2145663" y="4362020"/>
            <a:ext cx="78903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>
                <a:solidFill>
                  <a:srgbClr val="C00000"/>
                </a:solidFill>
                <a:latin typeface="Perpetua Titling MT" panose="02020502060505020804" pitchFamily="18" charset="0"/>
              </a:rPr>
              <a:t>Floristic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7D9DB-4E8B-62E1-2C88-DD5C04355407}"/>
              </a:ext>
            </a:extLst>
          </p:cNvPr>
          <p:cNvSpPr txBox="1"/>
          <p:nvPr/>
        </p:nvSpPr>
        <p:spPr>
          <a:xfrm>
            <a:off x="4290513" y="5562349"/>
            <a:ext cx="36006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chemeClr val="accent5"/>
                </a:solidFill>
                <a:latin typeface="Perpetua Titling MT" panose="02020502060505020804" pitchFamily="18" charset="0"/>
              </a:rPr>
              <a:t>Of a Region</a:t>
            </a:r>
          </a:p>
        </p:txBody>
      </p:sp>
    </p:spTree>
    <p:extLst>
      <p:ext uri="{BB962C8B-B14F-4D97-AF65-F5344CB8AC3E}">
        <p14:creationId xmlns:p14="http://schemas.microsoft.com/office/powerpoint/2010/main" val="3884186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71E7-1272-4905-DE42-F482BF82D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97ABF4-F23A-E00E-1146-D27ED7A59A4C}"/>
              </a:ext>
            </a:extLst>
          </p:cNvPr>
          <p:cNvSpPr txBox="1"/>
          <p:nvPr/>
        </p:nvSpPr>
        <p:spPr>
          <a:xfrm>
            <a:off x="452413" y="634015"/>
            <a:ext cx="1055191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0" b="1">
                <a:latin typeface="Barlow Condensed ExtraLight" panose="00000306000000000000" pitchFamily="2" charset="0"/>
              </a:rPr>
              <a:t>Example:</a:t>
            </a:r>
          </a:p>
          <a:p>
            <a:pPr algn="l"/>
            <a:r>
              <a:rPr lang="en-US" sz="6000">
                <a:latin typeface="Barlow Condensed ExtraLight" panose="00000306000000000000" pitchFamily="2" charset="0"/>
              </a:rPr>
              <a:t>Calculate FV of a region</a:t>
            </a:r>
          </a:p>
          <a:p>
            <a:r>
              <a:rPr lang="en-US" sz="6000">
                <a:latin typeface="Barlow Condensed ExtraLight" panose="00000306000000000000" pitchFamily="2" charset="0"/>
              </a:rPr>
              <a:t>in </a:t>
            </a:r>
            <a:r>
              <a:rPr lang="en-US" sz="6000" b="1">
                <a:solidFill>
                  <a:schemeClr val="bg2">
                    <a:lumMod val="75000"/>
                  </a:schemeClr>
                </a:solidFill>
                <a:latin typeface="Barlow Condensed ExtraLight" panose="00000306000000000000" pitchFamily="2" charset="0"/>
              </a:rPr>
              <a:t>southern Iran</a:t>
            </a:r>
          </a:p>
          <a:p>
            <a:pPr algn="l"/>
            <a:r>
              <a:rPr lang="en-US" sz="6000">
                <a:latin typeface="Barlow Condensed ExtraLight" panose="00000306000000000000" pitchFamily="2" charset="0"/>
              </a:rPr>
              <a:t>where </a:t>
            </a:r>
            <a:r>
              <a:rPr lang="en-US" sz="6000" b="1">
                <a:solidFill>
                  <a:srgbClr val="C00000"/>
                </a:solidFill>
                <a:latin typeface="Barlow Condensed ExtraLight" panose="00000306000000000000" pitchFamily="2" charset="0"/>
              </a:rPr>
              <a:t>3</a:t>
            </a:r>
            <a:r>
              <a:rPr lang="en-US" sz="6000">
                <a:latin typeface="Barlow Condensed ExtraLight" panose="00000306000000000000" pitchFamily="2" charset="0"/>
              </a:rPr>
              <a:t> local floras are studied</a:t>
            </a:r>
          </a:p>
          <a:p>
            <a:pPr algn="l"/>
            <a:endParaRPr lang="en-US" sz="6000">
              <a:latin typeface="Barlow Condensed ExtraLight" panose="00000306000000000000" pitchFamily="2" charset="0"/>
            </a:endParaRPr>
          </a:p>
          <a:p>
            <a:pPr algn="l"/>
            <a:r>
              <a:rPr lang="en-US" sz="6000">
                <a:latin typeface="Barlow Condensed ExtraLight" panose="00000306000000000000" pitchFamily="2" charset="0"/>
              </a:rPr>
              <a:t>(species lists are available)</a:t>
            </a:r>
          </a:p>
        </p:txBody>
      </p:sp>
    </p:spTree>
    <p:extLst>
      <p:ext uri="{BB962C8B-B14F-4D97-AF65-F5344CB8AC3E}">
        <p14:creationId xmlns:p14="http://schemas.microsoft.com/office/powerpoint/2010/main" val="2219995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86B03-CC86-31D7-5D27-0475101D1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7137BE6-3BF1-0D99-5DAD-5D85886CD88A}"/>
              </a:ext>
            </a:extLst>
          </p:cNvPr>
          <p:cNvGrpSpPr/>
          <p:nvPr/>
        </p:nvGrpSpPr>
        <p:grpSpPr>
          <a:xfrm>
            <a:off x="1028661" y="406286"/>
            <a:ext cx="9660767" cy="3475241"/>
            <a:chOff x="-532917" y="-69182"/>
            <a:chExt cx="11105140" cy="5476888"/>
          </a:xfrm>
        </p:grpSpPr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6501AAE-A4DB-74D7-8391-EE8BA1EACB30}"/>
                </a:ext>
              </a:extLst>
            </p:cNvPr>
            <p:cNvSpPr/>
            <p:nvPr/>
          </p:nvSpPr>
          <p:spPr>
            <a:xfrm>
              <a:off x="0" y="939103"/>
              <a:ext cx="10572223" cy="4468603"/>
            </a:xfrm>
            <a:custGeom>
              <a:avLst/>
              <a:gdLst>
                <a:gd name="csX0" fmla="*/ 0 w 8324850"/>
                <a:gd name="csY0" fmla="*/ 4282379 h 4282379"/>
                <a:gd name="csX1" fmla="*/ 7010400 w 8324850"/>
                <a:gd name="csY1" fmla="*/ 0 h 4282379"/>
                <a:gd name="csX2" fmla="*/ 8324850 w 8324850"/>
                <a:gd name="csY2" fmla="*/ 4282379 h 4282379"/>
                <a:gd name="csX3" fmla="*/ 0 w 8324850"/>
                <a:gd name="csY3" fmla="*/ 4282379 h 4282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324850" h="4282379">
                  <a:moveTo>
                    <a:pt x="0" y="4282379"/>
                  </a:moveTo>
                  <a:lnTo>
                    <a:pt x="7010400" y="0"/>
                  </a:lnTo>
                  <a:lnTo>
                    <a:pt x="8324850" y="4282379"/>
                  </a:lnTo>
                  <a:lnTo>
                    <a:pt x="0" y="4282379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4731FD-E60A-9E0B-2952-4B1280B22582}"/>
                </a:ext>
              </a:extLst>
            </p:cNvPr>
            <p:cNvSpPr txBox="1"/>
            <p:nvPr/>
          </p:nvSpPr>
          <p:spPr>
            <a:xfrm>
              <a:off x="-532917" y="-69182"/>
              <a:ext cx="6287554" cy="4171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US" sz="16600" i="1">
                  <a:solidFill>
                    <a:schemeClr val="tx1"/>
                  </a:solidFill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Al</a:t>
              </a:r>
              <a:r>
                <a:rPr lang="en-US" sz="16600" i="1"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a</a:t>
              </a:r>
              <a:r>
                <a:rPr lang="en-US" sz="16600" i="1">
                  <a:solidFill>
                    <a:srgbClr val="C00000"/>
                  </a:solidFill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m</a:t>
              </a:r>
              <a:r>
                <a:rPr lang="en-US" sz="16600" i="1">
                  <a:solidFill>
                    <a:schemeClr val="tx1"/>
                  </a:solidFill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ut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589BF2A-E173-A5A7-E693-29CFD9344029}"/>
              </a:ext>
            </a:extLst>
          </p:cNvPr>
          <p:cNvSpPr txBox="1"/>
          <p:nvPr/>
        </p:nvSpPr>
        <p:spPr>
          <a:xfrm>
            <a:off x="1580765" y="4297678"/>
            <a:ext cx="94106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>
                <a:solidFill>
                  <a:srgbClr val="FF0000"/>
                </a:solidFill>
                <a:latin typeface="Perpetua Titling MT" panose="02020502060505020804" pitchFamily="18" charset="0"/>
              </a:rPr>
              <a:t>Verifying </a:t>
            </a:r>
            <a:r>
              <a:rPr lang="en-US" sz="4400">
                <a:solidFill>
                  <a:schemeClr val="bg2">
                    <a:lumMod val="50000"/>
                  </a:schemeClr>
                </a:solidFill>
                <a:latin typeface="Perpetua Titling MT" panose="02020502060505020804" pitchFamily="18" charset="0"/>
              </a:rPr>
              <a:t>Dataset-DATA</a:t>
            </a:r>
            <a:endParaRPr lang="en-US" sz="7200">
              <a:solidFill>
                <a:schemeClr val="bg2">
                  <a:lumMod val="50000"/>
                </a:schemeClr>
              </a:solidFill>
              <a:latin typeface="Perpetua Titling MT" panose="020205020605050208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769659-9376-AD82-94EC-4783511E5F54}"/>
              </a:ext>
            </a:extLst>
          </p:cNvPr>
          <p:cNvSpPr txBox="1"/>
          <p:nvPr/>
        </p:nvSpPr>
        <p:spPr>
          <a:xfrm>
            <a:off x="2545644" y="5914158"/>
            <a:ext cx="7090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chemeClr val="accent5"/>
                </a:solidFill>
                <a:latin typeface="Perpetua Titling MT" panose="02020502060505020804" pitchFamily="18" charset="0"/>
              </a:rPr>
              <a:t>Using Alamut  .  OFF-LINE</a:t>
            </a:r>
          </a:p>
        </p:txBody>
      </p:sp>
    </p:spTree>
    <p:extLst>
      <p:ext uri="{BB962C8B-B14F-4D97-AF65-F5344CB8AC3E}">
        <p14:creationId xmlns:p14="http://schemas.microsoft.com/office/powerpoint/2010/main" val="1969012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5F12E-1198-0487-5347-ACF8BF23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495D8E-14F4-7A67-879E-DDB8C1D16D7D}"/>
              </a:ext>
            </a:extLst>
          </p:cNvPr>
          <p:cNvSpPr txBox="1"/>
          <p:nvPr/>
        </p:nvSpPr>
        <p:spPr>
          <a:xfrm>
            <a:off x="452413" y="634015"/>
            <a:ext cx="113989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0" b="1">
                <a:latin typeface="Barlow Condensed ExtraLight" panose="00000306000000000000" pitchFamily="2" charset="0"/>
              </a:rPr>
              <a:t>Example:</a:t>
            </a:r>
          </a:p>
          <a:p>
            <a:pPr algn="l"/>
            <a:r>
              <a:rPr lang="en-US" sz="6000">
                <a:latin typeface="Barlow Condensed ExtraLight" panose="00000306000000000000" pitchFamily="2" charset="0"/>
              </a:rPr>
              <a:t>Correct plant species list in:</a:t>
            </a:r>
          </a:p>
          <a:p>
            <a:pPr algn="l"/>
            <a:endParaRPr lang="en-US" sz="6000">
              <a:latin typeface="Barlow Condensed ExtraLight" panose="00000306000000000000" pitchFamily="2" charset="0"/>
            </a:endParaRPr>
          </a:p>
          <a:p>
            <a:r>
              <a:rPr lang="en-US" sz="6000" b="1">
                <a:solidFill>
                  <a:schemeClr val="bg2">
                    <a:lumMod val="75000"/>
                  </a:schemeClr>
                </a:solidFill>
                <a:latin typeface="Barlow Condensed ExtraLight" panose="00000306000000000000" pitchFamily="2" charset="0"/>
              </a:rPr>
              <a:t>Contribution to the </a:t>
            </a:r>
            <a:r>
              <a:rPr lang="en-US" sz="6000" b="1">
                <a:solidFill>
                  <a:schemeClr val="accent5"/>
                </a:solidFill>
                <a:latin typeface="Barlow Condensed ExtraLight" panose="00000306000000000000" pitchFamily="2" charset="0"/>
              </a:rPr>
              <a:t>flora of Asir</a:t>
            </a:r>
            <a:r>
              <a:rPr lang="en-US" sz="6000" b="1">
                <a:solidFill>
                  <a:schemeClr val="bg2">
                    <a:lumMod val="75000"/>
                  </a:schemeClr>
                </a:solidFill>
                <a:latin typeface="Barlow Condensed ExtraLight" panose="00000306000000000000" pitchFamily="2" charset="0"/>
              </a:rPr>
              <a:t>, Saudi Arabia</a:t>
            </a:r>
          </a:p>
        </p:txBody>
      </p:sp>
    </p:spTree>
    <p:extLst>
      <p:ext uri="{BB962C8B-B14F-4D97-AF65-F5344CB8AC3E}">
        <p14:creationId xmlns:p14="http://schemas.microsoft.com/office/powerpoint/2010/main" val="2404029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D95FF-17BD-F5CC-2450-23E2BCC5E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5323733-B8F3-A7EE-D31D-7B664CAADE25}"/>
              </a:ext>
            </a:extLst>
          </p:cNvPr>
          <p:cNvGrpSpPr/>
          <p:nvPr/>
        </p:nvGrpSpPr>
        <p:grpSpPr>
          <a:xfrm>
            <a:off x="1492265" y="684300"/>
            <a:ext cx="9197163" cy="3197227"/>
            <a:chOff x="0" y="368960"/>
            <a:chExt cx="10572223" cy="5038746"/>
          </a:xfrm>
        </p:grpSpPr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C26C23BA-041F-ED3F-FAB5-EB661E91395B}"/>
                </a:ext>
              </a:extLst>
            </p:cNvPr>
            <p:cNvSpPr/>
            <p:nvPr/>
          </p:nvSpPr>
          <p:spPr>
            <a:xfrm>
              <a:off x="0" y="939103"/>
              <a:ext cx="10572223" cy="4468603"/>
            </a:xfrm>
            <a:custGeom>
              <a:avLst/>
              <a:gdLst>
                <a:gd name="csX0" fmla="*/ 0 w 8324850"/>
                <a:gd name="csY0" fmla="*/ 4282379 h 4282379"/>
                <a:gd name="csX1" fmla="*/ 7010400 w 8324850"/>
                <a:gd name="csY1" fmla="*/ 0 h 4282379"/>
                <a:gd name="csX2" fmla="*/ 8324850 w 8324850"/>
                <a:gd name="csY2" fmla="*/ 4282379 h 4282379"/>
                <a:gd name="csX3" fmla="*/ 0 w 8324850"/>
                <a:gd name="csY3" fmla="*/ 4282379 h 42823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324850" h="4282379">
                  <a:moveTo>
                    <a:pt x="0" y="4282379"/>
                  </a:moveTo>
                  <a:lnTo>
                    <a:pt x="7010400" y="0"/>
                  </a:lnTo>
                  <a:lnTo>
                    <a:pt x="8324850" y="4282379"/>
                  </a:lnTo>
                  <a:lnTo>
                    <a:pt x="0" y="4282379"/>
                  </a:lnTo>
                  <a:close/>
                </a:path>
              </a:pathLst>
            </a:custGeom>
            <a:solidFill>
              <a:srgbClr val="C4E5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7593F9-2992-30B2-B200-FD9D590DDBA3}"/>
                </a:ext>
              </a:extLst>
            </p:cNvPr>
            <p:cNvSpPr txBox="1"/>
            <p:nvPr/>
          </p:nvSpPr>
          <p:spPr>
            <a:xfrm>
              <a:off x="779497" y="368960"/>
              <a:ext cx="6287554" cy="4171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US" sz="16600" i="1">
                  <a:solidFill>
                    <a:schemeClr val="tx1"/>
                  </a:solidFill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Al</a:t>
              </a:r>
              <a:r>
                <a:rPr lang="en-US" sz="16600" i="1"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a</a:t>
              </a:r>
              <a:r>
                <a:rPr lang="en-US" sz="16600" i="1">
                  <a:solidFill>
                    <a:srgbClr val="C00000"/>
                  </a:solidFill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m</a:t>
              </a:r>
              <a:r>
                <a:rPr lang="en-US" sz="16600" i="1">
                  <a:solidFill>
                    <a:schemeClr val="tx1"/>
                  </a:solidFill>
                  <a:latin typeface="Rastanty Cortez" panose="020F0502020204030204" pitchFamily="2" charset="0"/>
                  <a:ea typeface="Dotum" panose="020B0600000101010101" pitchFamily="34" charset="-127"/>
                  <a:cs typeface="Biome Light" panose="020B0303030204020804" pitchFamily="34" charset="0"/>
                </a:rPr>
                <a:t>ut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17970EE-1C56-FFAD-7F1E-42FA619D5460}"/>
              </a:ext>
            </a:extLst>
          </p:cNvPr>
          <p:cNvSpPr txBox="1"/>
          <p:nvPr/>
        </p:nvSpPr>
        <p:spPr>
          <a:xfrm>
            <a:off x="2050637" y="4297678"/>
            <a:ext cx="80804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>
                <a:solidFill>
                  <a:schemeClr val="accent4">
                    <a:lumMod val="75000"/>
                  </a:schemeClr>
                </a:solidFill>
                <a:latin typeface="Perpetua Titling MT" panose="02020502060505020804" pitchFamily="18" charset="0"/>
              </a:rPr>
              <a:t>Create </a:t>
            </a:r>
            <a:r>
              <a:rPr lang="en-US" sz="4400">
                <a:solidFill>
                  <a:schemeClr val="accent4">
                    <a:lumMod val="75000"/>
                  </a:schemeClr>
                </a:solidFill>
                <a:latin typeface="Perpetua Titling MT" panose="02020502060505020804" pitchFamily="18" charset="0"/>
              </a:rPr>
              <a:t>new Datasets</a:t>
            </a:r>
            <a:endParaRPr lang="en-US" sz="7200">
              <a:solidFill>
                <a:schemeClr val="accent4">
                  <a:lumMod val="75000"/>
                </a:schemeClr>
              </a:solidFill>
              <a:latin typeface="Perpetua Titling MT" panose="020205020605050208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14DB2-E430-23C9-7FA5-05F0948B943D}"/>
              </a:ext>
            </a:extLst>
          </p:cNvPr>
          <p:cNvSpPr txBox="1"/>
          <p:nvPr/>
        </p:nvSpPr>
        <p:spPr>
          <a:xfrm>
            <a:off x="2821393" y="5914158"/>
            <a:ext cx="63719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chemeClr val="accent5"/>
                </a:solidFill>
                <a:latin typeface="Perpetua Titling MT" panose="02020502060505020804" pitchFamily="18" charset="0"/>
              </a:rPr>
              <a:t>from published papers</a:t>
            </a:r>
          </a:p>
        </p:txBody>
      </p:sp>
    </p:spTree>
    <p:extLst>
      <p:ext uri="{BB962C8B-B14F-4D97-AF65-F5344CB8AC3E}">
        <p14:creationId xmlns:p14="http://schemas.microsoft.com/office/powerpoint/2010/main" val="3612489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46462-FDA5-6A83-0C7F-5FE321CC7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D6D842-9F56-56BF-D7CF-C1468DE042DC}"/>
              </a:ext>
            </a:extLst>
          </p:cNvPr>
          <p:cNvSpPr txBox="1"/>
          <p:nvPr/>
        </p:nvSpPr>
        <p:spPr>
          <a:xfrm>
            <a:off x="452413" y="634015"/>
            <a:ext cx="113353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0" b="1">
                <a:latin typeface="Barlow Condensed ExtraLight" panose="00000306000000000000" pitchFamily="2" charset="0"/>
              </a:rPr>
              <a:t>Example: </a:t>
            </a:r>
            <a:r>
              <a:rPr lang="en-US" sz="6000">
                <a:latin typeface="Barlow Condensed ExtraLight" panose="00000306000000000000" pitchFamily="2" charset="0"/>
              </a:rPr>
              <a:t>List of Plant Species in tropical deciduous forests of Eastern Ghats, </a:t>
            </a:r>
            <a:r>
              <a:rPr lang="en-US" sz="6000" b="1">
                <a:solidFill>
                  <a:schemeClr val="bg2">
                    <a:lumMod val="75000"/>
                  </a:schemeClr>
                </a:solidFill>
                <a:latin typeface="Barlow Condensed ExtraLight" panose="00000306000000000000" pitchFamily="2" charset="0"/>
              </a:rPr>
              <a:t>India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67AEF3-F967-89EF-5BF4-9DC20541D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373" y="2573007"/>
            <a:ext cx="7043968" cy="40175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9812B6-2228-EC64-AE41-603AE057A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27" y="2573007"/>
            <a:ext cx="3083024" cy="428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73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7D26D-DC87-BFE9-7AB3-954A7D89B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0" y="564553"/>
            <a:ext cx="9972680" cy="631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77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B2245F-65C2-3A73-763C-973FEB001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38" y="0"/>
            <a:ext cx="573678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1D253A-C172-5427-097A-2EEBD6670B1C}"/>
              </a:ext>
            </a:extLst>
          </p:cNvPr>
          <p:cNvSpPr txBox="1"/>
          <p:nvPr/>
        </p:nvSpPr>
        <p:spPr>
          <a:xfrm>
            <a:off x="7422204" y="1110670"/>
            <a:ext cx="45698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0">
                <a:latin typeface="Barlow Condensed ExtraLight" panose="00000306000000000000" pitchFamily="2" charset="0"/>
              </a:rPr>
              <a:t>This is a small list of just </a:t>
            </a:r>
            <a:r>
              <a:rPr lang="en-US" sz="6000">
                <a:solidFill>
                  <a:srgbClr val="C00000"/>
                </a:solidFill>
                <a:latin typeface="Barlow Condensed ExtraLight" panose="00000306000000000000" pitchFamily="2" charset="0"/>
              </a:rPr>
              <a:t>50</a:t>
            </a:r>
            <a:r>
              <a:rPr lang="en-US" sz="6000">
                <a:latin typeface="Barlow Condensed ExtraLight" panose="00000306000000000000" pitchFamily="2" charset="0"/>
              </a:rPr>
              <a:t> Plant species</a:t>
            </a:r>
            <a:endParaRPr lang="en-US" sz="6000" b="1">
              <a:solidFill>
                <a:schemeClr val="bg2">
                  <a:lumMod val="75000"/>
                </a:schemeClr>
              </a:solidFill>
              <a:latin typeface="Barlow Condensed ExtraLight" panose="000003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85955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6000" smtClean="0">
            <a:latin typeface="Barlow Condensed ExtraLight" panose="00000306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640</Words>
  <Application>Microsoft Office PowerPoint</Application>
  <PresentationFormat>Widescreen</PresentationFormat>
  <Paragraphs>121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Adobe Kaiti Std R</vt:lpstr>
      <vt:lpstr>Aptos</vt:lpstr>
      <vt:lpstr>Arial</vt:lpstr>
      <vt:lpstr>Barlow Condensed ExtraLight</vt:lpstr>
      <vt:lpstr>Courier New</vt:lpstr>
      <vt:lpstr>Gill Sans MT</vt:lpstr>
      <vt:lpstr>Perpetua Titling MT</vt:lpstr>
      <vt:lpstr>Rastanty Cortez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Majid SharifiTehrani</dc:creator>
  <cp:lastModifiedBy>Majid SharifiTehrani</cp:lastModifiedBy>
  <cp:revision>22</cp:revision>
  <dcterms:created xsi:type="dcterms:W3CDTF">2026-09-02T07:09:35Z</dcterms:created>
  <dcterms:modified xsi:type="dcterms:W3CDTF">2026-09-11T08:29:45Z</dcterms:modified>
</cp:coreProperties>
</file>